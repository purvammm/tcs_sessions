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presProps" Target="presProps.xml"/><Relationship Id="rId5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>
          <a:solidFill>
            <a:srgbClr val="1D1D1F"/>
          </a:solidFill>
          <a:latin typeface="+mn-lt"/>
        </a:defRPr>
      </a:lvl1pPr>
    </p:titleStyle>
    <p:bodyStyle>
      <a:lvl1pPr>
        <a:defRPr sz="1400">
          <a:solidFill>
            <a:srgbClr val="1D1D1F"/>
          </a:solidFill>
          <a:latin typeface="+mn-lt"/>
        </a:defRPr>
      </a:lvl1pPr>
      <a:lvl2pPr>
        <a:defRPr sz="1300"/>
      </a:lvl2pPr>
    </p:bodyStyle>
    <p:otherStyle>
      <a:lvl1pPr>
        <a:defRPr sz="14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84FF"/>
              </a:gs>
              <a:gs pos="100000">
                <a:srgbClr val="5E5CE6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3"/>
          <p:cNvSpPr/>
          <p:nvPr/>
        </p:nvSpPr>
        <p:spPr>
          <a:xfrm>
            <a:off x="609600" y="2000250"/>
            <a:ext cx="2819400" cy="323850"/>
          </a:xfrm>
          <a:prstGeom prst="roundRect">
            <a:avLst>
              <a:gd name="adj" fmla="val 20000"/>
            </a:avLst>
          </a:prstGeom>
          <a:noFill/>
          <a:ln w="1143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609600" y="2000250"/>
            <a:ext cx="281940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+mn-lt"/>
              </a:rPr>
              <a:t>Clinical Pathology · Haematology</a:t>
            </a:r>
          </a:p>
        </p:txBody>
      </p:sp>
      <p:sp>
        <p:nvSpPr>
          <p:cNvPr id="5" name="t5"/>
          <p:cNvSpPr txBox="1"/>
          <p:nvPr/>
        </p:nvSpPr>
        <p:spPr>
          <a:xfrm>
            <a:off x="609600" y="2495550"/>
            <a:ext cx="10972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+mn-lt"/>
              </a:rPr>
              <a:t>Parasites in Haematology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3638550"/>
            <a:ext cx="10972800" cy="8715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>
                <a:solidFill>
                  <a:srgbClr val="EAF1FF"/>
                </a:solidFill>
                <a:latin typeface="+mn-lt"/>
              </a:rPr>
              <a:t>A morphology-first tour of the parasites a pathologist meets on the peripheral blood film, buffy coat and bone marrow — malaria, babesia, microfilariae, trypanosomes and leishmania — with the diagnostic reasoning to tell them apart.</a:t>
            </a:r>
          </a:p>
        </p:txBody>
      </p:sp>
      <p:sp>
        <p:nvSpPr>
          <p:cNvPr id="7" name="t7"/>
          <p:cNvSpPr txBox="1"/>
          <p:nvPr/>
        </p:nvSpPr>
        <p:spPr>
          <a:xfrm>
            <a:off x="609600" y="4681538"/>
            <a:ext cx="1097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DCE6FF"/>
                </a:solidFill>
                <a:latin typeface="+mn-lt"/>
              </a:rPr>
              <a:t>Presenter: __________ • Pathology Residency Teaching • Date: __________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What we'll cover today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Agenda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700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>
                <a:solidFill>
                  <a:srgbClr val="1D1D1F"/>
                </a:solidFill>
                <a:latin typeface="+mn-lt"/>
              </a:rPr>
              <a:t>The peripheral blood film is one of the few places in medicine where you can see the pathogen </a:t>
            </a:r>
            <a:r>
              <a:rPr lang="en-US" sz="1500" i="1">
                <a:solidFill>
                  <a:srgbClr val="1D1D1F"/>
                </a:solidFill>
                <a:latin typeface="+mn-lt"/>
              </a:rPr>
              <a:t>and</a:t>
            </a:r>
            <a:r>
              <a:rPr lang="en-US" sz="1500">
                <a:solidFill>
                  <a:srgbClr val="1D1D1F"/>
                </a:solidFill>
                <a:latin typeface="+mn-lt"/>
              </a:rPr>
              <a:t> make the diagnosis in the same glance. This session builds the systematic eye a pathologist needs: how to prepare and stain the film, where each organism hides, and — most importantly — the morphological features that separate look-alikes under oil immersion.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2052638"/>
            <a:ext cx="10972800" cy="16549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1 Films, stains &amp; a diagnostic approach to the blood parasite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2 Malaria — the five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Plasmodium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species, in depth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3 Babesia — and how not to call it malaria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4 Microfilariae — sheath &amp; tail nuclei as the key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5 Trypanosomes &amp; Leishmania (LD bodies)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6 Parasites that damage blood from a distance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7 Lab methods, reporting, artefacts &amp; references</a:t>
            </a:r>
          </a:p>
        </p:txBody>
      </p:sp>
      <p:sp>
        <p:nvSpPr>
          <p:cNvPr id="7" name="r7"/>
          <p:cNvSpPr/>
          <p:nvPr/>
        </p:nvSpPr>
        <p:spPr>
          <a:xfrm>
            <a:off x="609600" y="3840956"/>
            <a:ext cx="10972800" cy="91916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840956"/>
            <a:ext cx="47625" cy="91916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917156"/>
            <a:ext cx="10706100" cy="7858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HOW TO USE THESE SLIDES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The deck is written to be read on its own afterwards, not just watched — every slide carries its full explanation. Diagrams are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schematic teaching illustrations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drawn to highlight the diagnostic feature; always correlate with a photomicrograph atlas (Bain; CDC DPDx) at the microscope. Content is drawn from standard references listed on the penultimate slide.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Framing the topic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What do we mean by "parasites in haematology"?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Two overlapping groups of organisms concern the haematologist and the pathologist reporting a blood film: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5419725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685925"/>
            <a:ext cx="5229225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Blood- &amp; marrow-dwelling parasites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Organisms actually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seen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in blood or marrow: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Plasmodium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Babesia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microfilariae,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Trypanosoma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and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Leishmania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amastigotes (LD bodies). The film is the diagnostic specimen.</a:t>
            </a:r>
          </a:p>
        </p:txBody>
      </p:sp>
      <p:sp>
        <p:nvSpPr>
          <p:cNvPr id="8" name="r8"/>
          <p:cNvSpPr/>
          <p:nvPr/>
        </p:nvSpPr>
        <p:spPr>
          <a:xfrm>
            <a:off x="6162675" y="1609725"/>
            <a:ext cx="5419725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257925" y="1685925"/>
            <a:ext cx="5229225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Parasites causing haematological disease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Organisms living elsewhere that produce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blood consequences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: hookworm → iron-deficiency anaemia;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Diphyllobothrium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B12 deficiency; tissue helminths → eosinophilia.</a:t>
            </a:r>
          </a:p>
        </p:txBody>
      </p:sp>
      <p:sp>
        <p:nvSpPr>
          <p:cNvPr id="10" name="r10"/>
          <p:cNvSpPr/>
          <p:nvPr/>
        </p:nvSpPr>
        <p:spPr>
          <a:xfrm>
            <a:off x="609600" y="2745581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11"/>
          <p:cNvSpPr/>
          <p:nvPr/>
        </p:nvSpPr>
        <p:spPr>
          <a:xfrm>
            <a:off x="609600" y="2745581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762000" y="2821781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THE PATHOLOGIST'S DUAL ROLE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You are asked to do two things: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(1) detect and identify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the organism when it is on the film, and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(2) recognise the blood picture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that should make you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suspect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 parasite even when none is visible — anaemia, eosinophilia, thrombocytopenia, or an unexplained haemolytic picture in a traveller.</a:t>
            </a:r>
          </a:p>
        </p:txBody>
      </p:sp>
      <p:sp>
        <p:nvSpPr>
          <p:cNvPr id="13" name="r1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Clinical significance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Why this matters at the bench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Blood-film parasitology is high-stakes because the diagnosis is often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time-critical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and the specimen is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you, at the microscope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— there is frequently no second chance if the film is misread.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1809750"/>
            <a:ext cx="10972800" cy="13477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Malaria is a medical emergency.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P. falciparum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can kill within hours; a film reported as "no parasites" that was actually positive is a sentinel event. Species and parasitaemia change management directly.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Travel &amp; migration.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Imported malaria, filariasis, trypanosomiasis and leishmaniasis appear in non-endemic labs where the eye is least practised.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The film may be the first clue to immunosuppression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— babesiosis in the asplenic patient, disseminated leishmaniasis or toxoplasmosis in HIV/transplant.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Incidental findings.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A microfilaria drifting across a routine FBC film, or LD bodies in a marrow done for pancytopenia, can be the whole diagnosis.</a:t>
            </a:r>
          </a:p>
        </p:txBody>
      </p:sp>
      <p:sp>
        <p:nvSpPr>
          <p:cNvPr id="7" name="r7"/>
          <p:cNvSpPr/>
          <p:nvPr/>
        </p:nvSpPr>
        <p:spPr>
          <a:xfrm>
            <a:off x="609600" y="3290888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290888"/>
            <a:ext cx="47625" cy="74771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367088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F5F57"/>
                </a:solidFill>
                <a:latin typeface="+mn-lt"/>
              </a:rPr>
              <a:t>THE CARDINAL RULE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In a febrile patient with any travel or residence in an endemic area,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malaria must be actively excluded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by blood film and/or rapid test. "Not requested" is never an excuse for a missed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Getting organised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Classification of haematological parasites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A working classification the pathologist can carry to the microscope — grouped by kingdom and by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where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the organism is found on the film: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1804988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Group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Organisms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Where seen on the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Protozoa — intra-erythrocytic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Plasmodium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(5 spp.),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Babesia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Inside red cells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Protozoa — extracellular (plasma)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Trypanosoma brucei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T. cruzi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Free between cells (flagellates)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Protozoa — intracellular (macrophage)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(LD bodies),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Toxoplasma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Within macrophages — buffy coat / marrow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Helminths — in blood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Microfilariae (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Wuchereria, Brugia, Loa, Mansonella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Free in plasma, larger than cells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Helminths — elsewhere, blood effects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Hookworm,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Diphyllobothrium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Trichuris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Not on film — cause anaemia / eosinophilia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548062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548062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624262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A USEFUL FIRST SPLIT AT THE SCOPE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Ask: is it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inside a red cell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(malaria/babesia),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free and moving between cells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(trypanosome / microfilaria — and note the size), or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inside a macrophage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(leishmania)? That single question routes most of your differential.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Anatomical localisation on the specimen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Where to look — and in what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Matching the organism to the right compartment (and the right specimen) is half the diagnosis. Sensitivity collapses if you look in the wrong place.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809750"/>
          <a:ext cx="10972800" cy="1533525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Compartment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Best specimen / method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Organisms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Red cell interior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Thick + thin film (Giemsa)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Plasmodium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Babesia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Plasma / between cells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Thin film, wet prep, buffy coat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Trypomastigotes, 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Leucocytes / macrophages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Buffy-coat smear, bone marrow, splenic aspirate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Toxoplasma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Histoplasma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(mimic)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Bone marrow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Aspirate + trephine, touch imprint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(most sensitive after spleen), rarely malaria pigment / haemophagocytosis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4766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476625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5528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TIMING IS A SPECIMEN VARIABLE TOO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When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you draw blood changes the yield: malaria films are ideally taken during/just after a fever spike and repeated ×3 over 48 h; nocturnally-periodic microfilariae (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Wuchereria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Brugia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) need a night sample (≈22:00–02:00);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Loa loa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is diurnal (midday). More on periodicity later.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Pre-analytics — where errors begin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The specimen: collection &amp; film-making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3568700" cy="1052512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04850" y="1295400"/>
            <a:ext cx="3378200" cy="900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Sample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Fresh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finger/heel prick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gives the best morphology; EDTA blood is acceptable if films are made promptly (&lt;1 h) — storage distorts parasites and may cause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gametocyte exflagellation.</a:t>
            </a:r>
          </a:p>
        </p:txBody>
      </p:sp>
      <p:sp>
        <p:nvSpPr>
          <p:cNvPr id="7" name="r7"/>
          <p:cNvSpPr/>
          <p:nvPr/>
        </p:nvSpPr>
        <p:spPr>
          <a:xfrm>
            <a:off x="4311650" y="1219200"/>
            <a:ext cx="3568700" cy="1052512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406900" y="1295400"/>
            <a:ext cx="3378200" cy="900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Films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Make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both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 thick film (for detection) and a thin film (for species ID) on the same or paired slides. Air-dry thoroughly; never heat-fix a thick film.</a:t>
            </a:r>
          </a:p>
        </p:txBody>
      </p:sp>
      <p:sp>
        <p:nvSpPr>
          <p:cNvPr id="9" name="r9"/>
          <p:cNvSpPr/>
          <p:nvPr/>
        </p:nvSpPr>
        <p:spPr>
          <a:xfrm>
            <a:off x="8013700" y="1219200"/>
            <a:ext cx="3568700" cy="1052512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8108950" y="1295400"/>
            <a:ext cx="3378200" cy="900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Stain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Giemsa at pH 7.2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is the reference. Correct pH is essential to reveal Schüffner's dots and true parasite colours.</a:t>
            </a:r>
          </a:p>
        </p:txBody>
      </p:sp>
      <p:sp>
        <p:nvSpPr>
          <p:cNvPr id="11" name="r11"/>
          <p:cNvSpPr/>
          <p:nvPr/>
        </p:nvSpPr>
        <p:spPr>
          <a:xfrm>
            <a:off x="609600" y="2519362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12"/>
          <p:cNvSpPr/>
          <p:nvPr/>
        </p:nvSpPr>
        <p:spPr>
          <a:xfrm>
            <a:off x="609600" y="2519362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762000" y="2595562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COMMON PRE-ANALYTICAL PITFALLS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EDTA that is too old → crenated cells, vacuolated parasites, and platelet clumps that mimic organisms. Wrong stain pH → dots don't appear, leading to species misclassification. Thick films that are too thick or heat-fixed → won't dehaemoglobinise and wash off. A single negative film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does not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exclude malaria.</a:t>
            </a:r>
          </a:p>
        </p:txBody>
      </p:sp>
      <p:sp>
        <p:nvSpPr>
          <p:cNvPr id="14" name="r14"/>
          <p:cNvSpPr/>
          <p:nvPr/>
        </p:nvSpPr>
        <p:spPr>
          <a:xfrm>
            <a:off x="609600" y="34004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15"/>
          <p:cNvSpPr/>
          <p:nvPr/>
        </p:nvSpPr>
        <p:spPr>
          <a:xfrm>
            <a:off x="609600" y="3400425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762000" y="34766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GOLDEN STANDARD, STILL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Despite antigen tests and PCR, the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Giemsa-stained thick and thin blood film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remains the reference method: it detects, identifies species, and quantifies parasitaemia in one specimen.</a:t>
            </a:r>
          </a:p>
        </p:txBody>
      </p:sp>
      <p:sp>
        <p:nvSpPr>
          <p:cNvPr id="17" name="r1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two-film principle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Thick film vs thin film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Every parasitology work-up rests on two complementary films. Understand what each is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for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and you will never rely on the wrong one.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1804988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Feature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Thick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Thin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Purpose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Detection / screening — is a parasite present?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Identification — which species, what stage?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Blood volume examined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Large (≈10–20× more) → high sensitivity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Small → lower sensitivity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Fixation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Not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fixed — RBCs are lysed (dehaemoglobinised)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Methanol-fixed — RBCs preserved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What you see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Free parasites on a clear background; no intact RBCs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Parasite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within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the RBC; RBC size &amp; inclusions visible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Strength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Finds low parasitaemia (~4× more sensitive)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Species differentiation &amp; % parasitaemia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548062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548062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624262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WHY RBC PRESERVATION DECIDES SPECIES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Species ID depends on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the infected red cell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— is it enlarged? does it have Schüffner's dots? Only the thin film preserves that. The thick film concentrates parasites for detection but destroys the very host-cell clues you need to name the species. Hence: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thick to find, thin to name.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Making the invisible visible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Romanowsky stains for blood parasites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All are Romanowsky (methylene-blue + eosin) stains; the parasite nucleus (chromatin) stains red-purple and the cytoplasm blue — the "red dot, blue comma" of a malaria ring.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809750"/>
          <a:ext cx="10972800" cy="2276475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Stain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Typical use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Notes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Giemsa (pH 7.2)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Reference stain for thick &amp; thin films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Best for Schüffner's dots &amp; true colour; needs buffered water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Field's stain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Rapid staining of thick films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Aqueous, ~seconds; ideal for high-throughput screening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Leishman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Routine thin films (methanol-based)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Common in labs; dots less reliably shown than Giemsa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JSB (Jaswant Singh–Bhattacharji)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Rapid thick-film malaria surveys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Two-solution method used widely in endemic-area programmes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Wright / Wright–Giemsa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Automated haematology stainers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Fine for detection; dots may be under-stained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4219575"/>
            <a:ext cx="10972800" cy="57626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4219575"/>
            <a:ext cx="47625" cy="57626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4295775"/>
            <a:ext cx="10706100" cy="442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PH IS NOT A DETAIL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At acidic pH, Schüffner's dots fail to appear and a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infection can be mis-called.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Buffer water to pH 7.0–7.2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for any film where species matters.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A systematic eye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Approach to a possible parasite on the film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20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4">
                <a:solidFill>
                  <a:srgbClr val="1D1D1F"/>
                </a:solidFill>
                <a:latin typeface="+mn-lt"/>
              </a:rPr>
              <a:t>When something "extra" is on the film, work through this decision tree rather than guessing:</a:t>
            </a:r>
          </a:p>
        </p:txBody>
      </p:sp>
      <p:sp>
        <p:nvSpPr>
          <p:cNvPr id="6" name="r6"/>
          <p:cNvSpPr/>
          <p:nvPr/>
        </p:nvSpPr>
        <p:spPr>
          <a:xfrm>
            <a:off x="3429000" y="1548833"/>
            <a:ext cx="5334000" cy="445879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3505200" y="1605983"/>
            <a:ext cx="5181600" cy="3506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Abnormal structure seen on film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858">
                <a:solidFill>
                  <a:srgbClr val="6E6E73"/>
                </a:solidFill>
                <a:latin typeface="+mn-lt"/>
              </a:rPr>
              <a:t>at ×100 oil, on a well-stained thin film</a:t>
            </a:r>
          </a:p>
        </p:txBody>
      </p:sp>
      <p:sp>
        <p:nvSpPr>
          <p:cNvPr id="8" name="t8"/>
          <p:cNvSpPr txBox="1"/>
          <p:nvPr/>
        </p:nvSpPr>
        <p:spPr>
          <a:xfrm>
            <a:off x="609600" y="1994712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9" name="r9"/>
          <p:cNvSpPr/>
          <p:nvPr/>
        </p:nvSpPr>
        <p:spPr>
          <a:xfrm>
            <a:off x="3429000" y="2204262"/>
            <a:ext cx="5334000" cy="323262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3505200" y="2261412"/>
            <a:ext cx="5181600" cy="22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Is it inside a red cell?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09600" y="2527524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2" name="r12"/>
          <p:cNvSpPr/>
          <p:nvPr/>
        </p:nvSpPr>
        <p:spPr>
          <a:xfrm>
            <a:off x="3429000" y="2737074"/>
            <a:ext cx="5334000" cy="445879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505200" y="2794224"/>
            <a:ext cx="5181600" cy="3506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YES → intra-RBC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858">
                <a:solidFill>
                  <a:srgbClr val="6E6E73"/>
                </a:solidFill>
                <a:latin typeface="+mn-lt"/>
              </a:rPr>
              <a:t>ring/pigment? malaria · tetrads/no pigment? Babesia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09600" y="3182953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5" name="r15"/>
          <p:cNvSpPr/>
          <p:nvPr/>
        </p:nvSpPr>
        <p:spPr>
          <a:xfrm>
            <a:off x="3429000" y="3392503"/>
            <a:ext cx="5334000" cy="445879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3505200" y="3449653"/>
            <a:ext cx="5181600" cy="3506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NO → extracellular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858">
                <a:solidFill>
                  <a:srgbClr val="6E6E73"/>
                </a:solidFill>
                <a:latin typeface="+mn-lt"/>
              </a:rPr>
              <a:t>next question ↓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09600" y="3838382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8" name="r18"/>
          <p:cNvSpPr/>
          <p:nvPr/>
        </p:nvSpPr>
        <p:spPr>
          <a:xfrm>
            <a:off x="3429000" y="4047932"/>
            <a:ext cx="5334000" cy="323262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19"/>
          <p:cNvSpPr txBox="1"/>
          <p:nvPr/>
        </p:nvSpPr>
        <p:spPr>
          <a:xfrm>
            <a:off x="3505200" y="4105082"/>
            <a:ext cx="5181600" cy="22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Is it much larger than a cell &amp; worm-like?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09600" y="4371194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21" name="r21"/>
          <p:cNvSpPr/>
          <p:nvPr/>
        </p:nvSpPr>
        <p:spPr>
          <a:xfrm>
            <a:off x="3429000" y="4580744"/>
            <a:ext cx="5334000" cy="445879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3505200" y="4637894"/>
            <a:ext cx="5181600" cy="3506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YES → microfilaria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858">
                <a:solidFill>
                  <a:srgbClr val="6E6E73"/>
                </a:solidFill>
                <a:latin typeface="+mn-lt"/>
              </a:rPr>
              <a:t>assess sheath + tail nuclei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09600" y="5026624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24" name="r24"/>
          <p:cNvSpPr/>
          <p:nvPr/>
        </p:nvSpPr>
        <p:spPr>
          <a:xfrm>
            <a:off x="3429000" y="5236174"/>
            <a:ext cx="5334000" cy="445879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3505200" y="5293324"/>
            <a:ext cx="5181600" cy="3506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NO → flagellate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858">
                <a:solidFill>
                  <a:srgbClr val="6E6E73"/>
                </a:solidFill>
                <a:latin typeface="+mn-lt"/>
              </a:rPr>
              <a:t>trypomastigote (kinetoplast + undulating membrane)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609600" y="5682053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6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27" name="r27"/>
          <p:cNvSpPr/>
          <p:nvPr/>
        </p:nvSpPr>
        <p:spPr>
          <a:xfrm>
            <a:off x="3429000" y="5891603"/>
            <a:ext cx="5334000" cy="323262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28"/>
          <p:cNvSpPr txBox="1"/>
          <p:nvPr/>
        </p:nvSpPr>
        <p:spPr>
          <a:xfrm>
            <a:off x="3505200" y="5948753"/>
            <a:ext cx="5181600" cy="22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3" b="1">
                <a:solidFill>
                  <a:srgbClr val="1D1D1F"/>
                </a:solidFill>
                <a:latin typeface="+mn-lt"/>
              </a:rPr>
              <a:t>Inside a macrophage on buffy coat / marrow? → Leishmania LD bodies</a:t>
            </a:r>
          </a:p>
        </p:txBody>
      </p:sp>
      <p:sp>
        <p:nvSpPr>
          <p:cNvPr id="29" name="r29"/>
          <p:cNvSpPr/>
          <p:nvPr/>
        </p:nvSpPr>
        <p:spPr>
          <a:xfrm>
            <a:off x="609600" y="6323858"/>
            <a:ext cx="10972800" cy="516240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30"/>
          <p:cNvSpPr/>
          <p:nvPr/>
        </p:nvSpPr>
        <p:spPr>
          <a:xfrm>
            <a:off x="609600" y="6323858"/>
            <a:ext cx="47625" cy="5162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762000" y="6400058"/>
            <a:ext cx="10706100" cy="3828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99" b="1">
                <a:solidFill>
                  <a:srgbClr val="0A84FF"/>
                </a:solidFill>
                <a:latin typeface="+mn-lt"/>
              </a:rPr>
              <a:t>ALWAYS CONFIRM, THEN QUANTIFY &amp; REPORT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981">
                <a:solidFill>
                  <a:srgbClr val="1D1D1F"/>
                </a:solidFill>
                <a:latin typeface="+mn-lt"/>
              </a:rPr>
              <a:t>Confirm species on the thin film, </a:t>
            </a:r>
            <a:r>
              <a:rPr lang="en-US" sz="981" b="1">
                <a:solidFill>
                  <a:srgbClr val="1D1D1F"/>
                </a:solidFill>
                <a:latin typeface="+mn-lt"/>
              </a:rPr>
              <a:t>quantify</a:t>
            </a:r>
            <a:r>
              <a:rPr lang="en-US" sz="981">
                <a:solidFill>
                  <a:srgbClr val="1D1D1F"/>
                </a:solidFill>
                <a:latin typeface="+mn-lt"/>
              </a:rPr>
              <a:t> parasitaemia if malaria/babesia, exclude artefacts (next-door platelet, stain debris), and escalate malaria as a critical result.</a:t>
            </a:r>
          </a:p>
        </p:txBody>
      </p:sp>
      <p:sp>
        <p:nvSpPr>
          <p:cNvPr id="32" name="r3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2 · Malaria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Malaria — the organism &amp; the burden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Malaria is caused by the apicomplexan protozoan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Plasmodium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, transmitted by the female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Anopheles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mosquito. Five species infect humans: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6859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P. falciparum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Most lethal; cerebral &amp; severe malaria; high parasitaemia. Predominant in sub-Saharan Africa.</a:t>
            </a:r>
          </a:p>
        </p:txBody>
      </p:sp>
      <p:sp>
        <p:nvSpPr>
          <p:cNvPr id="8" name="r8"/>
          <p:cNvSpPr/>
          <p:nvPr/>
        </p:nvSpPr>
        <p:spPr>
          <a:xfrm>
            <a:off x="4311650" y="16097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4406900" y="16859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P. vivax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Widest geographic range;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relapses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from dormant liver hypnozoites.</a:t>
            </a:r>
          </a:p>
        </p:txBody>
      </p:sp>
      <p:sp>
        <p:nvSpPr>
          <p:cNvPr id="10" name="r10"/>
          <p:cNvSpPr/>
          <p:nvPr/>
        </p:nvSpPr>
        <p:spPr>
          <a:xfrm>
            <a:off x="8013700" y="16097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8108950" y="16859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P. ovale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West Africa; also relapses (hypnozoites); mild.</a:t>
            </a:r>
          </a:p>
        </p:txBody>
      </p:sp>
      <p:sp>
        <p:nvSpPr>
          <p:cNvPr id="12" name="r12"/>
          <p:cNvSpPr/>
          <p:nvPr/>
        </p:nvSpPr>
        <p:spPr>
          <a:xfrm>
            <a:off x="609600" y="24479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704850" y="25241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P. malariae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Chronic, low-grade; classic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quartan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fever; can persist for years.</a:t>
            </a:r>
          </a:p>
        </p:txBody>
      </p:sp>
      <p:sp>
        <p:nvSpPr>
          <p:cNvPr id="14" name="r14"/>
          <p:cNvSpPr/>
          <p:nvPr/>
        </p:nvSpPr>
        <p:spPr>
          <a:xfrm>
            <a:off x="4311650" y="24479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4406900" y="25241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P. knowlesi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Zoonotic (macaque); SE Asia; morphology mimics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but can be severe.</a:t>
            </a:r>
          </a:p>
        </p:txBody>
      </p:sp>
      <p:sp>
        <p:nvSpPr>
          <p:cNvPr id="16" name="r16"/>
          <p:cNvSpPr/>
          <p:nvPr/>
        </p:nvSpPr>
        <p:spPr>
          <a:xfrm>
            <a:off x="8013700" y="2447925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8108950" y="2524125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Vector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Female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Anopheles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Also: transfusion, congenital, needle-stick.</a:t>
            </a:r>
          </a:p>
        </p:txBody>
      </p:sp>
      <p:sp>
        <p:nvSpPr>
          <p:cNvPr id="18" name="r18"/>
          <p:cNvSpPr/>
          <p:nvPr/>
        </p:nvSpPr>
        <p:spPr>
          <a:xfrm>
            <a:off x="609600" y="341947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19"/>
          <p:cNvSpPr/>
          <p:nvPr/>
        </p:nvSpPr>
        <p:spPr>
          <a:xfrm>
            <a:off x="609600" y="3419475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762000" y="349567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WHY THE PATHOLOGIST RANKS THE SPECIES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can be rapidly fatal and need urgent, sometimes parenteral, therapy;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require anti-relapse treatment (primaquine) because of hypnozoites. Getting the species right steers the clinician.</a:t>
            </a:r>
          </a:p>
        </p:txBody>
      </p:sp>
      <p:sp>
        <p:nvSpPr>
          <p:cNvPr id="21" name="r2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cycle behind the film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life cycle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Only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erythrocytic (blood) stages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are seen on the film — but the whole cycle explains relapse, fever periodicity and transmission.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7"/>
          <p:cNvSpPr/>
          <p:nvPr/>
        </p:nvSpPr>
        <p:spPr>
          <a:xfrm>
            <a:off x="800100" y="1990725"/>
            <a:ext cx="2042160" cy="123825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4288">
            <a:solidFill>
              <a:srgbClr val="5E5C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857250" y="2066925"/>
            <a:ext cx="1927860" cy="1085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Mosquito bite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injects sporozoites</a:t>
            </a:r>
          </a:p>
        </p:txBody>
      </p:sp>
      <p:sp>
        <p:nvSpPr>
          <p:cNvPr id="9" name="t9"/>
          <p:cNvSpPr txBox="1"/>
          <p:nvPr/>
        </p:nvSpPr>
        <p:spPr>
          <a:xfrm>
            <a:off x="2842260" y="1990725"/>
            <a:ext cx="13335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0A84FF"/>
                </a:solidFill>
                <a:latin typeface="+mn-lt"/>
              </a:rPr>
              <a:t>→</a:t>
            </a:r>
          </a:p>
        </p:txBody>
      </p:sp>
      <p:sp>
        <p:nvSpPr>
          <p:cNvPr id="10" name="r10"/>
          <p:cNvSpPr/>
          <p:nvPr/>
        </p:nvSpPr>
        <p:spPr>
          <a:xfrm>
            <a:off x="2937510" y="1990725"/>
            <a:ext cx="2042160" cy="123825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2994660" y="2066925"/>
            <a:ext cx="1927860" cy="1085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Liver stage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schizonts; hypnozoites relapse (vivax/ovale)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979670" y="1990725"/>
            <a:ext cx="13335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0A84FF"/>
                </a:solidFill>
                <a:latin typeface="+mn-lt"/>
              </a:rPr>
              <a:t>→</a:t>
            </a:r>
          </a:p>
        </p:txBody>
      </p:sp>
      <p:sp>
        <p:nvSpPr>
          <p:cNvPr id="13" name="r13"/>
          <p:cNvSpPr/>
          <p:nvPr/>
        </p:nvSpPr>
        <p:spPr>
          <a:xfrm>
            <a:off x="5074920" y="1990725"/>
            <a:ext cx="2042160" cy="123825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4288">
            <a:solidFill>
              <a:srgbClr val="1A9E3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5132070" y="2066925"/>
            <a:ext cx="1927860" cy="1085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Blood stage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ring→troph→schizont→rupture (fever)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117080" y="1990725"/>
            <a:ext cx="13335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0A84FF"/>
                </a:solidFill>
                <a:latin typeface="+mn-lt"/>
              </a:rPr>
              <a:t>→</a:t>
            </a:r>
          </a:p>
        </p:txBody>
      </p:sp>
      <p:sp>
        <p:nvSpPr>
          <p:cNvPr id="16" name="r16"/>
          <p:cNvSpPr/>
          <p:nvPr/>
        </p:nvSpPr>
        <p:spPr>
          <a:xfrm>
            <a:off x="7212330" y="1990725"/>
            <a:ext cx="2042160" cy="123825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7269480" y="2066925"/>
            <a:ext cx="1927860" cy="1085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Gametocytes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sexual forms taken up by mosquito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9254490" y="1990725"/>
            <a:ext cx="13335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0A84FF"/>
                </a:solidFill>
                <a:latin typeface="+mn-lt"/>
              </a:rPr>
              <a:t>→</a:t>
            </a:r>
          </a:p>
        </p:txBody>
      </p:sp>
      <p:sp>
        <p:nvSpPr>
          <p:cNvPr id="19" name="r19"/>
          <p:cNvSpPr/>
          <p:nvPr/>
        </p:nvSpPr>
        <p:spPr>
          <a:xfrm>
            <a:off x="9349740" y="1990725"/>
            <a:ext cx="2042160" cy="123825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4288">
            <a:solidFill>
              <a:srgbClr val="5E5C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9406890" y="2066925"/>
            <a:ext cx="1927860" cy="1085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Mosquito midgut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sporogony → sporozoites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09600" y="3381375"/>
            <a:ext cx="10972800" cy="247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0A84FF"/>
                </a:solidFill>
                <a:latin typeface="+mn-lt"/>
              </a:rPr>
              <a:t>Cycle repeats every 24 / 48 / 72 h → periodic fever; only blood stages appear on the film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09600" y="4029075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teaching diagram — human liver &amp; blood stages plus the mosquito cycle. Only blood stages appear on the film.</a:t>
            </a:r>
          </a:p>
        </p:txBody>
      </p:sp>
      <p:sp>
        <p:nvSpPr>
          <p:cNvPr id="23" name="r23"/>
          <p:cNvSpPr/>
          <p:nvPr/>
        </p:nvSpPr>
        <p:spPr>
          <a:xfrm>
            <a:off x="609600" y="4369594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24"/>
          <p:cNvSpPr/>
          <p:nvPr/>
        </p:nvSpPr>
        <p:spPr>
          <a:xfrm>
            <a:off x="609600" y="4369594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762000" y="4445794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TWO CLINICAL FACTS FALL STRAIGHT OUT OF THE CYCLE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(1) Fever periodicity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= synchronous schizont rupture (48 h tertian for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vivax/ovale/falciparum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; 72 h quartan for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).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(2) Relapse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occurs only with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because of dormant liver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hypnozoites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— hence primaquine.</a:t>
            </a:r>
          </a:p>
        </p:txBody>
      </p:sp>
      <p:sp>
        <p:nvSpPr>
          <p:cNvPr id="26" name="r2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What the parasite looks like as it matures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Erythrocytic stages on the film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Inside the red cell the parasite matures through a recognisable sequence. Recognising the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stage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is as important as the species.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1657350" y="2143125"/>
            <a:ext cx="647700" cy="647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1847850" y="2333625"/>
            <a:ext cx="266700" cy="266700"/>
          </a:xfrm>
          <a:prstGeom prst="ellipse">
            <a:avLst/>
          </a:prstGeom>
          <a:noFill/>
          <a:ln w="38100">
            <a:solidFill>
              <a:srgbClr val="7FB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2019300" y="235267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609600" y="2867025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Ring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09600" y="3038475"/>
            <a:ext cx="274320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thin ring + red dot</a:t>
            </a:r>
          </a:p>
        </p:txBody>
      </p:sp>
      <p:sp>
        <p:nvSpPr>
          <p:cNvPr id="12" name="o12"/>
          <p:cNvSpPr/>
          <p:nvPr/>
        </p:nvSpPr>
        <p:spPr>
          <a:xfrm>
            <a:off x="4400550" y="2143125"/>
            <a:ext cx="647700" cy="647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4572000" y="2352675"/>
            <a:ext cx="285750" cy="247650"/>
          </a:xfrm>
          <a:prstGeom prst="ellipse">
            <a:avLst/>
          </a:prstGeom>
          <a:solidFill>
            <a:srgbClr val="7FB0E8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4705350" y="240982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4781550" y="2505075"/>
            <a:ext cx="47625" cy="47625"/>
          </a:xfrm>
          <a:prstGeom prst="ellipse">
            <a:avLst/>
          </a:prstGeom>
          <a:solidFill>
            <a:srgbClr val="5A3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3352800" y="2867025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Trophozoite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3352800" y="3038475"/>
            <a:ext cx="274320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amoeboid + pigment</a:t>
            </a:r>
          </a:p>
        </p:txBody>
      </p:sp>
      <p:sp>
        <p:nvSpPr>
          <p:cNvPr id="18" name="o18"/>
          <p:cNvSpPr/>
          <p:nvPr/>
        </p:nvSpPr>
        <p:spPr>
          <a:xfrm>
            <a:off x="7143750" y="2143125"/>
            <a:ext cx="647700" cy="647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o19"/>
          <p:cNvSpPr/>
          <p:nvPr/>
        </p:nvSpPr>
        <p:spPr>
          <a:xfrm>
            <a:off x="7562850" y="242887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7523793" y="2523168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7429500" y="256222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22"/>
          <p:cNvSpPr/>
          <p:nvPr/>
        </p:nvSpPr>
        <p:spPr>
          <a:xfrm>
            <a:off x="7335207" y="2523168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7296150" y="242887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7335207" y="2334582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o25"/>
          <p:cNvSpPr/>
          <p:nvPr/>
        </p:nvSpPr>
        <p:spPr>
          <a:xfrm>
            <a:off x="7429500" y="2295525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7523793" y="2334582"/>
            <a:ext cx="76200" cy="7620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27"/>
          <p:cNvSpPr/>
          <p:nvPr/>
        </p:nvSpPr>
        <p:spPr>
          <a:xfrm>
            <a:off x="7429500" y="2428875"/>
            <a:ext cx="76200" cy="76200"/>
          </a:xfrm>
          <a:prstGeom prst="ellipse">
            <a:avLst/>
          </a:prstGeom>
          <a:solidFill>
            <a:srgbClr val="5A3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28"/>
          <p:cNvSpPr txBox="1"/>
          <p:nvPr/>
        </p:nvSpPr>
        <p:spPr>
          <a:xfrm>
            <a:off x="6096000" y="2867025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Schizont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6096000" y="3038475"/>
            <a:ext cx="274320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merozoites + pigment</a:t>
            </a:r>
          </a:p>
        </p:txBody>
      </p:sp>
      <p:sp>
        <p:nvSpPr>
          <p:cNvPr id="30" name="o30"/>
          <p:cNvSpPr/>
          <p:nvPr/>
        </p:nvSpPr>
        <p:spPr>
          <a:xfrm>
            <a:off x="9886950" y="2143125"/>
            <a:ext cx="647700" cy="647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10115550" y="2276475"/>
            <a:ext cx="190500" cy="381000"/>
          </a:xfrm>
          <a:prstGeom prst="ellipse">
            <a:avLst/>
          </a:prstGeom>
          <a:solidFill>
            <a:srgbClr val="8aa9d6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o32"/>
          <p:cNvSpPr/>
          <p:nvPr/>
        </p:nvSpPr>
        <p:spPr>
          <a:xfrm>
            <a:off x="10172700" y="2428875"/>
            <a:ext cx="85725" cy="8572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8839200" y="2867025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Gametocyte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8839200" y="3038475"/>
            <a:ext cx="274320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banana (falciparum)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609600" y="4029075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ring → trophozoite → schizont → gametocyte. Red = chromatin (nucleus); blue = cytoplasm; brown = malarial pigment (haemozoin).</a:t>
            </a:r>
          </a:p>
        </p:txBody>
      </p:sp>
      <p:sp>
        <p:nvSpPr>
          <p:cNvPr id="36" name="r36"/>
          <p:cNvSpPr/>
          <p:nvPr/>
        </p:nvSpPr>
        <p:spPr>
          <a:xfrm>
            <a:off x="609600" y="4369594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r37"/>
          <p:cNvSpPr/>
          <p:nvPr/>
        </p:nvSpPr>
        <p:spPr>
          <a:xfrm>
            <a:off x="609600" y="4369594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38"/>
          <p:cNvSpPr txBox="1"/>
          <p:nvPr/>
        </p:nvSpPr>
        <p:spPr>
          <a:xfrm>
            <a:off x="762000" y="4445794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THE FALCIPARUM EXCEPTION — REMEMBER THIS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In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P. 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only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rings and the crescent (banana) gametocyte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are normally seen in peripheral blood — trophozoites and schizonts are sequestered in deep capillaries. Seeing all stages argues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against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falciparum; seeing mature stages + banana gametocytes confirms it.</a:t>
            </a:r>
          </a:p>
        </p:txBody>
      </p:sp>
      <p:sp>
        <p:nvSpPr>
          <p:cNvPr id="39" name="r39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40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A checklist for species identification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Reading the malaria film: the five questions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Species identification is a disciplined comparison of the parasite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and its host red cell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. Ask these five, every time: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6859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1 · Is the RBC enlarged?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Enlarged &amp; pale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Normal/small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8" name="r8"/>
          <p:cNvSpPr/>
          <p:nvPr/>
        </p:nvSpPr>
        <p:spPr>
          <a:xfrm>
            <a:off x="6162675" y="16097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257925" y="16859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2 · Any stippling / dots?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Schüffner's dots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Maurer's clefts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Faint Ziemann's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10" name="r10"/>
          <p:cNvSpPr/>
          <p:nvPr/>
        </p:nvSpPr>
        <p:spPr>
          <a:xfrm>
            <a:off x="609600" y="24479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04850" y="25241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3 · Which stages present?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Only rings + banana gametocytes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All stages → the others. Band forms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/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12" name="r12"/>
          <p:cNvSpPr/>
          <p:nvPr/>
        </p:nvSpPr>
        <p:spPr>
          <a:xfrm>
            <a:off x="6162675" y="24479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6257925" y="25241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4 · Ring appearance &amp; number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Multiple rings/cell, appliqué (marginal) forms, double chromatin dots →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14" name="r14"/>
          <p:cNvSpPr/>
          <p:nvPr/>
        </p:nvSpPr>
        <p:spPr>
          <a:xfrm>
            <a:off x="609600" y="3286125"/>
            <a:ext cx="5419725" cy="559594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704850" y="3362325"/>
            <a:ext cx="5229225" cy="4071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5 · Schizont merozoite count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~16 (vivax), ~8 rosette/daisy (malariae), 8 (ovale), 8–24 (falciparum, rarely seen).</a:t>
            </a:r>
          </a:p>
        </p:txBody>
      </p:sp>
      <p:sp>
        <p:nvSpPr>
          <p:cNvPr id="16" name="r16"/>
          <p:cNvSpPr/>
          <p:nvPr/>
        </p:nvSpPr>
        <p:spPr>
          <a:xfrm>
            <a:off x="6162675" y="3286125"/>
            <a:ext cx="5419725" cy="559594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6257925" y="3362325"/>
            <a:ext cx="5229225" cy="4071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+ Parasitaemia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High % with only rings strongly suggests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(or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).</a:t>
            </a:r>
          </a:p>
        </p:txBody>
      </p:sp>
      <p:sp>
        <p:nvSpPr>
          <p:cNvPr id="18" name="r18"/>
          <p:cNvSpPr/>
          <p:nvPr/>
        </p:nvSpPr>
        <p:spPr>
          <a:xfrm>
            <a:off x="609600" y="4093369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19"/>
          <p:cNvSpPr/>
          <p:nvPr/>
        </p:nvSpPr>
        <p:spPr>
          <a:xfrm>
            <a:off x="609600" y="4093369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762000" y="4169569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DISCIPLINE BEATS PATTERN-MATCHING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Beginners guess from the first ring they see. Experts run all five questions and cross-check — because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can look trivial (a few tiny rings) yet be the one that kills.</a:t>
            </a:r>
          </a:p>
        </p:txBody>
      </p:sp>
      <p:sp>
        <p:nvSpPr>
          <p:cNvPr id="21" name="r2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Species 1 · the dangerous one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falciparum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671638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4811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Morphology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RBC: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normal size; may show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Maurer's clefts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(few, coarse, red dots).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Rings: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small, delicate, often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multiple per cell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;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double chromatin dots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("headphone");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appliqué / accolé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forms hugging the cell margin.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Trophozoites &amp; schizonts: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usually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absent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(sequestered) — their presence signals a very heavy infection.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Gametocyte: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unmistakable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banana / crescent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shape.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671638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4811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Clues &amp; consequences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High parasitaemia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can exceed 10–20%; multiply-infected cells.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Only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rings + crescent gametocytes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on the peripheral film.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Malignant tertian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malaria; causes cerebral malaria, severe haemolysis, blackwater fever.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Sequestration &amp; rosetting → microvascular obstruction (the reason mature forms vanish from blood).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3024188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3024188"/>
            <a:ext cx="47625" cy="74771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3100388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F5F57"/>
                </a:solidFill>
                <a:latin typeface="+mn-lt"/>
              </a:rPr>
              <a:t>REPORT AS CRITICAL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(or high-parasitaemia unspeciated malaria) is a critical result — telephone the clinician, state the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% parasitaemia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and flag the possibility of severe malaria.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Species 2 · the relapser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vivax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493044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302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Morphology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RBC: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enlarged &amp; pale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, often distorted; carries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Schüffner's dots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(fine, numerous, pink-red stippling).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Ring: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large, thick — occupies ~⅓ of the cell.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Trophozoite: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large,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amoeboid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("spread-out") with fine brown pigment.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Schizont: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~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12–24 merozoites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(classically ~16), irregularly arranged.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493044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302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Clues &amp; consequences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All stages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present simultaneously on the film.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Prefers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young RBCs (reticulocytes)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parasitaemia usually low.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Benign tertian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malaria (48 h);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relapses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from hypnozoites.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Can still cause severe disease &amp; splenic rupture — not always "benign".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845594"/>
            <a:ext cx="10972800" cy="57626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2845594"/>
            <a:ext cx="47625" cy="57626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2921794"/>
            <a:ext cx="10706100" cy="442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THE PAIRING TO MEMORISE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Enlarged red cell + Schüffner's dots + amoeboid trophozoite = </a:t>
            </a:r>
            <a:r>
              <a:rPr lang="en-US" sz="1200" b="1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(or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). This is the single most useful gestalt for the non-falciparum species.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Species 3 · the mimic of vivax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ovale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2858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095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Morphology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RBC: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enlarged, often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oval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with a ragged/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fimbriated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(frayed) end; prominent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Schüffner's (James') dots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appearing even in ring stage.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Trophozoite: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more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compact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and less amoeboid than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Schizont: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~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8 merozoites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around a central pigment clump.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2858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095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Clues &amp; consequences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West Africa; mild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tertian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disease.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Relapses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hypnozoites, like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needs primaquine.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Distinguishing feature from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: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oval, fimbriated cells + more compact parasite + fewer merozoites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6384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2638425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27146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IN PRACTICE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vivax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overlap heavily. If the cell is oval/fimbriated with dots and the parasite is compact, favour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ovale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; molecular testing settles genuinely ambiguous cases.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Species 4 · the slow, chronic one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malariae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643062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4525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Morphology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RBC: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normal size or slightly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small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; no enlargement; faint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Ziemann's dots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(need strong staining).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Trophozoite: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compact; classic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"band" form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stretching across the cell; coarse dark pigment.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Schizont: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~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6–12 merozoites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in a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rosette / "daisy-head"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around central pigment.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643062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4525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Clues &amp; consequences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Quartan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fever (72 h cycle).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Prefers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old RBCs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very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low parasitaemia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No relapse (no hypnozoites) but can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recrudesce for years/decades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Associated with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quartan malarial nephropathy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(immune-complex).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995612"/>
            <a:ext cx="10972800" cy="57626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2995612"/>
            <a:ext cx="47625" cy="57626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3071812"/>
            <a:ext cx="10706100" cy="442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THE TWO SIGNATURES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Band-form trophozoite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daisy-head schizont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in a normal-sized cell =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But beware: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looks identical (next slide).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Species 5 · the zoonotic impostor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Plasmodium knowlesi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2858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095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Morphology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Early forms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resemble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(delicate rings, double chromatin, appliqué, multiply-infected cells).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Later forms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resemble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malariae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(band trophozoites, compact schizonts).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RBC not enlarged; no Schüffner's dots.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2858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095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Why it is dangerous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Zoonosis from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macaque monkeys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; Southeast Asia (Borneo/Malaysia).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Shortest cycle (~24 h, quotidian)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parasitaemia can climb fast.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Can cause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severe, fatal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malaria despite "malariae-like" morphology.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6384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2638425"/>
            <a:ext cx="47625" cy="74771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27146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F5F57"/>
                </a:solidFill>
                <a:latin typeface="+mn-lt"/>
              </a:rPr>
              <a:t>THE TRAP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 "malariae" film with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high parasitaemia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in a patient from SE Asia should be treated as potential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managed like severe malaria.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Microscopy cannot reliably distinguish it — PCR is required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for confirmation.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one table to know cold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Differentiating the Plasmodium species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tbl5"/>
          <p:cNvGraphicFramePr/>
          <p:nvPr/>
        </p:nvGraphicFramePr>
        <p:xfrm>
          <a:off x="609600" y="1219200"/>
          <a:ext cx="10972800" cy="3005138"/>
        </p:xfrm>
        <a:graphic>
          <a:graphicData uri="http://schemas.openxmlformats.org/drawingml/2006/table">
            <a:tbl>
              <a:tblPr firstRow="1" bandRow="0"/>
              <a:tblGrid>
                <a:gridCol w="2992582"/>
                <a:gridCol w="1995055"/>
                <a:gridCol w="1995055"/>
                <a:gridCol w="1995055"/>
                <a:gridCol w="1995055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Feature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falciparum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vivax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ovale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RBC size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Normal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Enlarged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Enlarged, oval/fimbriated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Normal / small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Stippling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Maurer's clefts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Schüffner's (fine, many)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Schüffner's (early, prominent)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Ziemann's (faint)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Stages in blood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Rings + banana gametocyte only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DEB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All stages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All stages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All stages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Trophozoite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Rarely seen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Large, amoeboid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Compact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Band form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Schizont merozoites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8–24 (rare)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12–24 (~16)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~8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6–12 rosette/daisy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Gametocyte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Crescent/banana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Round/oval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Round/oval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Round/oval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Multiple rings/cell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Common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Uncommon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Uncommon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Rare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Parasitaemia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High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Low–moderate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Low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Very low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Fever cycle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Malignant tertian (~48h)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Tertian 48h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Tertian 48h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Quartan 72h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Relapse (hypnozoite)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Yes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DEB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Yes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DEB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 (recrudesces)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6"/>
          <p:cNvSpPr txBox="1"/>
          <p:nvPr/>
        </p:nvSpPr>
        <p:spPr>
          <a:xfrm>
            <a:off x="609600" y="4357688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Composite of features as presented in Bain, 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Blood Cells: A Practical Guide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; WHO, 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Basic Malaria Microscopy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; and CDC DPDx. Content rephrased for compliance with licensing restrictions.</a:t>
            </a:r>
          </a:p>
        </p:txBody>
      </p:sp>
      <p:sp>
        <p:nvSpPr>
          <p:cNvPr id="7" name="r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9" name="t9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Host-cell clues — the "dots"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Red-cell stippling in malaria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The dots seen in the infected red cell are host-cell membrane alterations, and each pattern points to a species group.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2000250" y="2076450"/>
            <a:ext cx="876300" cy="876300"/>
          </a:xfrm>
          <a:prstGeom prst="ellipse">
            <a:avLst/>
          </a:prstGeom>
          <a:solidFill>
            <a:srgbClr val="FBE9E6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2314575" y="2390775"/>
            <a:ext cx="247650" cy="247650"/>
          </a:xfrm>
          <a:prstGeom prst="ellipse">
            <a:avLst/>
          </a:prstGeom>
          <a:noFill/>
          <a:ln w="38100">
            <a:solidFill>
              <a:srgbClr val="7FB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2476500" y="2409825"/>
            <a:ext cx="66675" cy="6667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o10"/>
          <p:cNvSpPr/>
          <p:nvPr/>
        </p:nvSpPr>
        <p:spPr>
          <a:xfrm>
            <a:off x="2390493" y="2536096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2399151" y="2469657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2291411" y="2461815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2576209" y="2551848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2558225" y="2524543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2441792" y="2503053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16"/>
          <p:cNvSpPr/>
          <p:nvPr/>
        </p:nvSpPr>
        <p:spPr>
          <a:xfrm>
            <a:off x="2161410" y="2619336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17"/>
          <p:cNvSpPr/>
          <p:nvPr/>
        </p:nvSpPr>
        <p:spPr>
          <a:xfrm>
            <a:off x="2468170" y="2543553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2187360" y="2256587"/>
            <a:ext cx="49530" cy="49530"/>
          </a:xfrm>
          <a:prstGeom prst="ellipse">
            <a:avLst/>
          </a:prstGeom>
          <a:solidFill>
            <a:srgbClr val="E070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19"/>
          <p:cNvSpPr txBox="1"/>
          <p:nvPr/>
        </p:nvSpPr>
        <p:spPr>
          <a:xfrm>
            <a:off x="609600" y="302895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Schüffner's dots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09600" y="3200400"/>
            <a:ext cx="36576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vivax / ovale</a:t>
            </a:r>
          </a:p>
        </p:txBody>
      </p:sp>
      <p:sp>
        <p:nvSpPr>
          <p:cNvPr id="21" name="o21"/>
          <p:cNvSpPr/>
          <p:nvPr/>
        </p:nvSpPr>
        <p:spPr>
          <a:xfrm>
            <a:off x="5734050" y="2152650"/>
            <a:ext cx="723900" cy="7239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o22"/>
          <p:cNvSpPr/>
          <p:nvPr/>
        </p:nvSpPr>
        <p:spPr>
          <a:xfrm>
            <a:off x="5972175" y="2390775"/>
            <a:ext cx="247650" cy="247650"/>
          </a:xfrm>
          <a:prstGeom prst="ellipse">
            <a:avLst/>
          </a:prstGeom>
          <a:noFill/>
          <a:ln w="38100">
            <a:solidFill>
              <a:srgbClr val="7FB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6134100" y="2409825"/>
            <a:ext cx="66675" cy="6667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5969989" y="2432954"/>
            <a:ext cx="64770" cy="64770"/>
          </a:xfrm>
          <a:prstGeom prst="ellipse">
            <a:avLst/>
          </a:prstGeom>
          <a:solidFill>
            <a:srgbClr val="A11E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o25"/>
          <p:cNvSpPr/>
          <p:nvPr/>
        </p:nvSpPr>
        <p:spPr>
          <a:xfrm>
            <a:off x="6075900" y="2480366"/>
            <a:ext cx="64770" cy="64770"/>
          </a:xfrm>
          <a:prstGeom prst="ellipse">
            <a:avLst/>
          </a:prstGeom>
          <a:solidFill>
            <a:srgbClr val="A11E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6112264" y="2422223"/>
            <a:ext cx="64770" cy="64770"/>
          </a:xfrm>
          <a:prstGeom prst="ellipse">
            <a:avLst/>
          </a:prstGeom>
          <a:solidFill>
            <a:srgbClr val="A11E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4267200" y="295275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Maurer's clefts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4267200" y="3124200"/>
            <a:ext cx="36576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falciparum</a:t>
            </a:r>
          </a:p>
        </p:txBody>
      </p:sp>
      <p:sp>
        <p:nvSpPr>
          <p:cNvPr id="29" name="o29"/>
          <p:cNvSpPr/>
          <p:nvPr/>
        </p:nvSpPr>
        <p:spPr>
          <a:xfrm>
            <a:off x="9429750" y="2190750"/>
            <a:ext cx="647700" cy="647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o30"/>
          <p:cNvSpPr/>
          <p:nvPr/>
        </p:nvSpPr>
        <p:spPr>
          <a:xfrm>
            <a:off x="9629775" y="2390775"/>
            <a:ext cx="247650" cy="247650"/>
          </a:xfrm>
          <a:prstGeom prst="ellipse">
            <a:avLst/>
          </a:prstGeom>
          <a:noFill/>
          <a:ln w="38100">
            <a:solidFill>
              <a:srgbClr val="7FB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9791700" y="2409825"/>
            <a:ext cx="66675" cy="6667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32"/>
          <p:cNvSpPr/>
          <p:nvPr/>
        </p:nvSpPr>
        <p:spPr>
          <a:xfrm>
            <a:off x="9751154" y="2516749"/>
            <a:ext cx="38100" cy="38100"/>
          </a:xfrm>
          <a:prstGeom prst="ellipse">
            <a:avLst/>
          </a:prstGeom>
          <a:solidFill>
            <a:srgbClr val="C98A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o33"/>
          <p:cNvSpPr/>
          <p:nvPr/>
        </p:nvSpPr>
        <p:spPr>
          <a:xfrm>
            <a:off x="9667538" y="2669666"/>
            <a:ext cx="38100" cy="38100"/>
          </a:xfrm>
          <a:prstGeom prst="ellipse">
            <a:avLst/>
          </a:prstGeom>
          <a:solidFill>
            <a:srgbClr val="C98A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o34"/>
          <p:cNvSpPr/>
          <p:nvPr/>
        </p:nvSpPr>
        <p:spPr>
          <a:xfrm>
            <a:off x="9790613" y="2616105"/>
            <a:ext cx="38100" cy="38100"/>
          </a:xfrm>
          <a:prstGeom prst="ellipse">
            <a:avLst/>
          </a:prstGeom>
          <a:solidFill>
            <a:srgbClr val="C98A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35"/>
          <p:cNvSpPr txBox="1"/>
          <p:nvPr/>
        </p:nvSpPr>
        <p:spPr>
          <a:xfrm>
            <a:off x="7924800" y="291465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Ziemann's dots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7924800" y="3086100"/>
            <a:ext cx="36576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malariae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609600" y="4029075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stippling patterns and the associated species. Requires correct stain pH (≈7.2) to be visible.</a:t>
            </a:r>
          </a:p>
        </p:txBody>
      </p:sp>
      <p:sp>
        <p:nvSpPr>
          <p:cNvPr id="38" name="r38"/>
          <p:cNvSpPr/>
          <p:nvPr/>
        </p:nvSpPr>
        <p:spPr>
          <a:xfrm>
            <a:off x="609600" y="4369594"/>
            <a:ext cx="10972800" cy="57626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r39"/>
          <p:cNvSpPr/>
          <p:nvPr/>
        </p:nvSpPr>
        <p:spPr>
          <a:xfrm>
            <a:off x="609600" y="4369594"/>
            <a:ext cx="47625" cy="57626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40"/>
          <p:cNvSpPr txBox="1"/>
          <p:nvPr/>
        </p:nvSpPr>
        <p:spPr>
          <a:xfrm>
            <a:off x="762000" y="4445794"/>
            <a:ext cx="10706100" cy="442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MNEMONIC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chüffner →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ame two that relapse (viva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x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/ovale).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aurer →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alignant (falciparum).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Z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iemann → the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quartan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(malariae), faint like its low parasitaemia.</a:t>
            </a:r>
          </a:p>
        </p:txBody>
      </p:sp>
      <p:sp>
        <p:nvSpPr>
          <p:cNvPr id="41" name="r4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42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Beyond the parasite itself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Malarial pigment &amp; haematological changes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821656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6311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Malarial pigment (haemozoin)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Golden-brown to black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birefringent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crystal — the parasite's waste from digesting haemoglobin.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Seen within trophozoites/schizonts, and in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monocytes &amp; neutrophils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(phagocytosed) — pigment-laden leucocytes indicate a heavy/recent infection and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poorer prognosis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Distinguish from formalin/artefact pigment (that is extracellular, non-parasitic).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821656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6311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Blood-count changes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Thrombocytopenia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very common; a useful clue in a febrile traveller.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Haemolytic anaemia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normocytic; polychromasia; ↑LDH, ↓haptoglobin, ↑bilirubin.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Blackwater fever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massive intravascular haemolysis with haemoglobinuria (severe falciparum).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Often normal/low WBC; atypical lymphocytes; monocytosis.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3174206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3174206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3250406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CLUE FOR THE REPORTING PATHOLOGIST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In a febrile patient,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unexplained thrombocytopenia + haemolysis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should trigger a careful search of thick and thin films for malaria even if not specifically requested.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Numbers the clinician acts 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Quantifying parasitaemia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For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(and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),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degree of parasitaemia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guides severity assessment and monitoring of treatment response. Two standard methods: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5400675" cy="4857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23900" y="1704975"/>
            <a:ext cx="5172075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0A84FF"/>
                </a:solidFill>
                <a:latin typeface="+mn-lt"/>
              </a:rPr>
              <a:t>Thin-film percentage method</a:t>
            </a:r>
          </a:p>
        </p:txBody>
      </p:sp>
      <p:sp>
        <p:nvSpPr>
          <p:cNvPr id="8" name="r8"/>
          <p:cNvSpPr/>
          <p:nvPr/>
        </p:nvSpPr>
        <p:spPr>
          <a:xfrm>
            <a:off x="6181725" y="1609725"/>
            <a:ext cx="5400675" cy="48577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296025" y="1704975"/>
            <a:ext cx="5172075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0A84FF"/>
                </a:solidFill>
                <a:latin typeface="+mn-lt"/>
              </a:rPr>
              <a:t>Thick-film count vs WBC</a:t>
            </a:r>
          </a:p>
        </p:txBody>
      </p:sp>
      <p:graphicFrame>
        <p:nvGraphicFramePr>
          <p:cNvPr id="10" name="tbl10"/>
          <p:cNvGraphicFramePr/>
          <p:nvPr/>
        </p:nvGraphicFramePr>
        <p:xfrm>
          <a:off x="609600" y="2228850"/>
          <a:ext cx="10972800" cy="1376362"/>
        </p:xfrm>
        <a:graphic>
          <a:graphicData uri="http://schemas.openxmlformats.org/drawingml/2006/table">
            <a:tbl>
              <a:tblPr firstRow="1" bandRow="0"/>
              <a:tblGrid>
                <a:gridCol w="6583680"/>
                <a:gridCol w="4389120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WHO semi-quantitative code (thick film)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Meaning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+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1–10 parasites per 100 thick-film fields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++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11–100 per 100 fields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+++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1–10 per single field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++++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&gt;10 per single field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609600" y="3738562"/>
            <a:ext cx="10972800" cy="57626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12"/>
          <p:cNvSpPr/>
          <p:nvPr/>
        </p:nvSpPr>
        <p:spPr>
          <a:xfrm>
            <a:off x="609600" y="3738562"/>
            <a:ext cx="47625" cy="57626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762000" y="3814762"/>
            <a:ext cx="10706100" cy="442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THRESHOLDS WORTH FLAGGING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parasitaemia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&gt;2%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warrants concern in non-immune patients and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&gt;5–10%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is a criterion for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severe malaria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— communicate the figure explicitly.</a:t>
            </a:r>
          </a:p>
        </p:txBody>
      </p:sp>
      <p:sp>
        <p:nvSpPr>
          <p:cNvPr id="14" name="r1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film in life-threatening disease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Clues to severe falciparum malaria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Certain film and laboratory features mark a case that needs parenteral artesunate and intensive care. The pathologist can be the first to raise the alarm.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80975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88595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High parasitaemia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&gt;5–10% infected red cells, or heavy thick-film load.</a:t>
            </a:r>
          </a:p>
        </p:txBody>
      </p:sp>
      <p:sp>
        <p:nvSpPr>
          <p:cNvPr id="8" name="r8"/>
          <p:cNvSpPr/>
          <p:nvPr/>
        </p:nvSpPr>
        <p:spPr>
          <a:xfrm>
            <a:off x="6162675" y="180975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257925" y="188595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Mature forms in blood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Trophozoites/schizonts of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in peripheral blood = massive burden (loss of sequestration).</a:t>
            </a:r>
          </a:p>
        </p:txBody>
      </p:sp>
      <p:sp>
        <p:nvSpPr>
          <p:cNvPr id="10" name="r10"/>
          <p:cNvSpPr/>
          <p:nvPr/>
        </p:nvSpPr>
        <p:spPr>
          <a:xfrm>
            <a:off x="609600" y="2647950"/>
            <a:ext cx="5419725" cy="559594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04850" y="2724150"/>
            <a:ext cx="5229225" cy="4071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Pigment in &gt;5% neutrophils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Correlates with severity and worse outcome.</a:t>
            </a:r>
          </a:p>
        </p:txBody>
      </p:sp>
      <p:sp>
        <p:nvSpPr>
          <p:cNvPr id="12" name="r12"/>
          <p:cNvSpPr/>
          <p:nvPr/>
        </p:nvSpPr>
        <p:spPr>
          <a:xfrm>
            <a:off x="6162675" y="2647950"/>
            <a:ext cx="5419725" cy="559594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6257925" y="2724150"/>
            <a:ext cx="5229225" cy="4071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Multiply-infected cells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Two or more parasites per red cell across many cells.</a:t>
            </a:r>
          </a:p>
        </p:txBody>
      </p:sp>
      <p:sp>
        <p:nvSpPr>
          <p:cNvPr id="14" name="r14"/>
          <p:cNvSpPr/>
          <p:nvPr/>
        </p:nvSpPr>
        <p:spPr>
          <a:xfrm>
            <a:off x="609600" y="3455194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15"/>
          <p:cNvSpPr/>
          <p:nvPr/>
        </p:nvSpPr>
        <p:spPr>
          <a:xfrm>
            <a:off x="609600" y="3455194"/>
            <a:ext cx="47625" cy="74771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762000" y="3531394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F5F57"/>
                </a:solidFill>
                <a:latin typeface="+mn-lt"/>
              </a:rPr>
              <a:t>WHO SEVERE-MALARIA POINTERS (LAB)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Severe anaemia (Hb &lt; 7 g/dL), hypoglycaemia, lactic acidosis, renal impairment, haemoglobinuria (blackwater fever), and parasitaemia &gt;10%. Any of these +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= medical emergency; report immediately by phone.</a:t>
            </a:r>
          </a:p>
        </p:txBody>
      </p:sp>
      <p:sp>
        <p:nvSpPr>
          <p:cNvPr id="17" name="r1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What fools the eye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Malaria pitfalls &amp; pseudo-parasites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A large share of malaria reporting errors are false positives from artefacts and false negatives from technique. Know the mimics: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1804988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Mimic / artefact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Why it fools you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How to tell it apart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Platelet on a red cell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Purple body overlying RBC looks like a ring/parasite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Sits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on top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no true ring, look for platelets elsewhere; focus up/down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Howell–Jolly body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Round red nuclear remnant resembles chromatin dot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Solid, no cytoplasm/ring; post-splenectomy context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Stain precipitate / debris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Deposits mimic parasites on/off cells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Refractile, variable size, also on background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Basophilic stippling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Diffuse dots mistaken for Schüffner's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Fine, blue, throughout cell; no parasite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Superimposed cells / dirt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Overlap suggests inclusions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Change focal plane; clean slide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548062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548062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624262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THE RULE THAT PREVENTS BOTH ERROR TYPES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 true intra-erythrocytic parasite has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both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blue cytoplasm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and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red chromatin, and lies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within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the cell's focal plane. And remember: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one negative film never excludes malaria — repeat ×3 over 48 h.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Beyond microscopy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Adjunctive malaria diagnostics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3568700" cy="1216819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04850" y="1295400"/>
            <a:ext cx="3378200" cy="106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Rapid diagnostic tests (RDT)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Lateral-flow antigen tests: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HRP-2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(falciparum-specific) and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pLDH / aldolase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(pan-species). Fast, no microscope. Limitations: HRP-2 stays positive for weeks post-treatment;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hrp2/3 gene deletions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false negatives; poor at low parasitaemia.</a:t>
            </a:r>
          </a:p>
        </p:txBody>
      </p:sp>
      <p:sp>
        <p:nvSpPr>
          <p:cNvPr id="7" name="r7"/>
          <p:cNvSpPr/>
          <p:nvPr/>
        </p:nvSpPr>
        <p:spPr>
          <a:xfrm>
            <a:off x="4311650" y="1219200"/>
            <a:ext cx="3568700" cy="1216819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406900" y="1295400"/>
            <a:ext cx="3378200" cy="106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Molecular (PCR)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Most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sensitive &amp; specific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; the reference for species confirmation — essential for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 mixed infections. Slower, not for emergency triage.</a:t>
            </a:r>
          </a:p>
        </p:txBody>
      </p:sp>
      <p:sp>
        <p:nvSpPr>
          <p:cNvPr id="9" name="r9"/>
          <p:cNvSpPr/>
          <p:nvPr/>
        </p:nvSpPr>
        <p:spPr>
          <a:xfrm>
            <a:off x="8013700" y="1219200"/>
            <a:ext cx="3568700" cy="1216819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8108950" y="1295400"/>
            <a:ext cx="3378200" cy="106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Serology / QBC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Serology (antibody) is for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epidemiology / screening donors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not acute diagnosis.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QBC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(acridine-orange buffy coat) improves detection but does not speciate well.</a:t>
            </a:r>
          </a:p>
        </p:txBody>
      </p:sp>
      <p:sp>
        <p:nvSpPr>
          <p:cNvPr id="11" name="r11"/>
          <p:cNvSpPr/>
          <p:nvPr/>
        </p:nvSpPr>
        <p:spPr>
          <a:xfrm>
            <a:off x="609600" y="2683669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12"/>
          <p:cNvSpPr/>
          <p:nvPr/>
        </p:nvSpPr>
        <p:spPr>
          <a:xfrm>
            <a:off x="609600" y="2683669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762000" y="2759869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HOW THEY FIT TOGETHER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RDT + microscopy for the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acute diagnosis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(RDT triages, film speciates &amp; quantifies);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PCR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to confirm species / detect mixed &amp;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knowlesi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Microscopy remains the only routine method that gives species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and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parasitaemia together.</a:t>
            </a:r>
          </a:p>
        </p:txBody>
      </p:sp>
      <p:sp>
        <p:nvSpPr>
          <p:cNvPr id="14" name="r1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3 · Babesiosis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Babesia — the malaria mimic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i="1">
                <a:solidFill>
                  <a:srgbClr val="1D1D1F"/>
                </a:solidFill>
                <a:latin typeface="+mn-lt"/>
              </a:rPr>
              <a:t>Babesia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is an intra-erythrocytic protozoan transmitted by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Ixodes ticks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(the Lyme-disease tick), with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B. microti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the main species in North America and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B. divergens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in Europe. It is the classic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look-alike of falciparum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malaria.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809750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88595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Transmission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i="1">
                <a:solidFill>
                  <a:srgbClr val="1D1D1F"/>
                </a:solidFill>
                <a:latin typeface="+mn-lt"/>
              </a:rPr>
              <a:t>Ixodes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tick; also blood transfusion. Reservoir: rodents/cattle.</a:t>
            </a:r>
          </a:p>
        </p:txBody>
      </p:sp>
      <p:sp>
        <p:nvSpPr>
          <p:cNvPr id="8" name="r8"/>
          <p:cNvSpPr/>
          <p:nvPr/>
        </p:nvSpPr>
        <p:spPr>
          <a:xfrm>
            <a:off x="4311650" y="1809750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4406900" y="188595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Who gets severe disease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Asplenic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elderly, immunocompromised — can be fulminant with massive haemolysis.</a:t>
            </a:r>
          </a:p>
        </p:txBody>
      </p:sp>
      <p:sp>
        <p:nvSpPr>
          <p:cNvPr id="10" name="r10"/>
          <p:cNvSpPr/>
          <p:nvPr/>
        </p:nvSpPr>
        <p:spPr>
          <a:xfrm>
            <a:off x="8013700" y="1809750"/>
            <a:ext cx="3568700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8108950" y="188595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Clinical picture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Fever +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haemolytic anaemia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haemoglobinuria; no true periodicity.</a:t>
            </a:r>
          </a:p>
        </p:txBody>
      </p:sp>
      <p:sp>
        <p:nvSpPr>
          <p:cNvPr id="12" name="r12"/>
          <p:cNvSpPr/>
          <p:nvPr/>
        </p:nvSpPr>
        <p:spPr>
          <a:xfrm>
            <a:off x="609600" y="2781300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13"/>
          <p:cNvSpPr/>
          <p:nvPr/>
        </p:nvSpPr>
        <p:spPr>
          <a:xfrm>
            <a:off x="609600" y="2781300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762000" y="2857500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CONTEXT IS THE TIP-OFF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Suspect babesiosis in a haemolytic, febrile patient with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no travel to a malarious area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especially if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asplenic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or from a Lyme-endemic region. The film seals the diagnosis.</a:t>
            </a:r>
          </a:p>
        </p:txBody>
      </p:sp>
      <p:sp>
        <p:nvSpPr>
          <p:cNvPr id="15" name="r1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Telling it from malaria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Babesia morphology &amp; the Maltese cross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o6"/>
          <p:cNvSpPr/>
          <p:nvPr/>
        </p:nvSpPr>
        <p:spPr>
          <a:xfrm>
            <a:off x="3387090" y="1800225"/>
            <a:ext cx="1028700" cy="1028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3825240" y="2019300"/>
            <a:ext cx="152400" cy="209550"/>
          </a:xfrm>
          <a:prstGeom prst="ellipse">
            <a:avLst/>
          </a:prstGeom>
          <a:solidFill>
            <a:srgbClr val="8fb6e6"/>
          </a:solidFill>
          <a:ln w="11430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3882390" y="2105025"/>
            <a:ext cx="47625" cy="4762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3825240" y="2400300"/>
            <a:ext cx="152400" cy="209550"/>
          </a:xfrm>
          <a:prstGeom prst="ellipse">
            <a:avLst/>
          </a:prstGeom>
          <a:solidFill>
            <a:srgbClr val="8fb6e6"/>
          </a:solidFill>
          <a:ln w="11430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10"/>
          <p:cNvSpPr/>
          <p:nvPr/>
        </p:nvSpPr>
        <p:spPr>
          <a:xfrm>
            <a:off x="3882390" y="2486025"/>
            <a:ext cx="47625" cy="4762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3634740" y="2209800"/>
            <a:ext cx="152400" cy="209550"/>
          </a:xfrm>
          <a:prstGeom prst="ellipse">
            <a:avLst/>
          </a:prstGeom>
          <a:solidFill>
            <a:srgbClr val="8fb6e6"/>
          </a:solidFill>
          <a:ln w="11430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3691890" y="2295525"/>
            <a:ext cx="47625" cy="4762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4015740" y="2209800"/>
            <a:ext cx="152400" cy="209550"/>
          </a:xfrm>
          <a:prstGeom prst="ellipse">
            <a:avLst/>
          </a:prstGeom>
          <a:solidFill>
            <a:srgbClr val="8fb6e6"/>
          </a:solidFill>
          <a:ln w="11430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4072890" y="2295525"/>
            <a:ext cx="47625" cy="47625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3044190" y="2924175"/>
            <a:ext cx="17145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"Maltese cross" tetrad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3044190" y="3095625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pathognomonic of Babesia</a:t>
            </a:r>
          </a:p>
        </p:txBody>
      </p:sp>
      <p:sp>
        <p:nvSpPr>
          <p:cNvPr id="17" name="o17"/>
          <p:cNvSpPr/>
          <p:nvPr/>
        </p:nvSpPr>
        <p:spPr>
          <a:xfrm>
            <a:off x="7556754" y="1800225"/>
            <a:ext cx="1028700" cy="1028700"/>
          </a:xfrm>
          <a:prstGeom prst="ellipse">
            <a:avLst/>
          </a:prstGeom>
          <a:solidFill>
            <a:srgbClr val="F7D9D4"/>
          </a:solidFill>
          <a:ln w="11430">
            <a:solidFill>
              <a:srgbClr val="D98B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7918704" y="2219325"/>
            <a:ext cx="209550" cy="209550"/>
          </a:xfrm>
          <a:prstGeom prst="ellipse">
            <a:avLst/>
          </a:prstGeom>
          <a:noFill/>
          <a:ln w="38100">
            <a:solidFill>
              <a:srgbClr val="8fb6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o19"/>
          <p:cNvSpPr/>
          <p:nvPr/>
        </p:nvSpPr>
        <p:spPr>
          <a:xfrm>
            <a:off x="7994904" y="2276475"/>
            <a:ext cx="57150" cy="5715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8147304" y="2390775"/>
            <a:ext cx="152400" cy="152400"/>
          </a:xfrm>
          <a:prstGeom prst="ellipse">
            <a:avLst/>
          </a:prstGeom>
          <a:noFill/>
          <a:ln w="28575">
            <a:solidFill>
              <a:srgbClr val="8fb6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8433054" y="2028825"/>
            <a:ext cx="123825" cy="123825"/>
          </a:xfrm>
          <a:prstGeom prst="ellipse">
            <a:avLst/>
          </a:prstGeom>
          <a:noFill/>
          <a:ln w="28575">
            <a:solidFill>
              <a:srgbClr val="8fb6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7118604" y="2924175"/>
            <a:ext cx="1905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Rings + extracellular forms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7118604" y="309562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small, pleomorphic, NO pigment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the tetrad ("Maltese cross") of four pyriform merozoites is diagnostic of Babesia; note extracellular parasites and absence of pigment.</a:t>
            </a:r>
          </a:p>
        </p:txBody>
      </p:sp>
      <p:graphicFrame>
        <p:nvGraphicFramePr>
          <p:cNvPr id="25" name="tbl25"/>
          <p:cNvGraphicFramePr/>
          <p:nvPr/>
        </p:nvGraphicFramePr>
        <p:xfrm>
          <a:off x="609600" y="3979069"/>
          <a:ext cx="10972800" cy="1647825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Feature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Babesia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P. falciparum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Malarial pigment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Absent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Present (haemozoin)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Tetrad (Maltese cross)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Present (diagnostic)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Never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Gametocytes / schizonts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Absent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Banana gametocytes present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Extracellular forms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Common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Uncommon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Ring shape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Small, pleomorphic, vacuolated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More uniform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2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4 · Filariasis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Microfilariae on the blood film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Microfilariae are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larval stage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of filarial nematodes, released by adult worms into blood or lymphatics and transmitted by biting insects. On the film they are unmistakable —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far larger than any blood cell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, worm-like, and often distorting surrounding cells as they lie across the smear.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What to assess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Sheath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present or not;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pattern of tail nuclei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; body curves; length. These three name the species.</a:t>
            </a:r>
          </a:p>
        </p:txBody>
      </p:sp>
      <p:sp>
        <p:nvSpPr>
          <p:cNvPr id="8" name="r8"/>
          <p:cNvSpPr/>
          <p:nvPr/>
        </p:nvSpPr>
        <p:spPr>
          <a:xfrm>
            <a:off x="431165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440690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Periodicity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Nocturnal (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Wuchereria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Brugia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) vs diurnal (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Loa loa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) vs non-periodic (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Mansonella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) — decides when to draw blood.</a:t>
            </a:r>
          </a:p>
        </p:txBody>
      </p:sp>
      <p:sp>
        <p:nvSpPr>
          <p:cNvPr id="10" name="r10"/>
          <p:cNvSpPr/>
          <p:nvPr/>
        </p:nvSpPr>
        <p:spPr>
          <a:xfrm>
            <a:off x="801370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810895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Disease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Lymphatic filariasis (elephantiasis), loiasis, mansonellosis — plus marked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eosinophilia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</a:t>
            </a:r>
          </a:p>
        </p:txBody>
      </p:sp>
      <p:sp>
        <p:nvSpPr>
          <p:cNvPr id="12" name="r12"/>
          <p:cNvSpPr/>
          <p:nvPr/>
        </p:nvSpPr>
        <p:spPr>
          <a:xfrm>
            <a:off x="609600" y="2945606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13"/>
          <p:cNvSpPr/>
          <p:nvPr/>
        </p:nvSpPr>
        <p:spPr>
          <a:xfrm>
            <a:off x="609600" y="2945606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762000" y="3021806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THE TWO-FEATURE KEY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For blood microfilariae, almost everything hinges on: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(1) Is there a sheath?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(2) Do the nuclei run into the tip of the tail?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Master those two and the species table (slide after next) becomes easy.</a:t>
            </a:r>
          </a:p>
        </p:txBody>
      </p:sp>
      <p:sp>
        <p:nvSpPr>
          <p:cNvPr id="15" name="r1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main cause of lymphatic filariasis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Wuchereria bancrofti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6"/>
          <p:cNvSpPr/>
          <p:nvPr/>
        </p:nvSpPr>
        <p:spPr>
          <a:xfrm>
            <a:off x="990600" y="2066925"/>
            <a:ext cx="10210800" cy="285750"/>
          </a:xfrm>
          <a:prstGeom prst="roundRect">
            <a:avLst>
              <a:gd name="adj" fmla="val 50000"/>
            </a:avLst>
          </a:prstGeom>
          <a:solidFill>
            <a:srgbClr val="EDE0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1057275" y="219075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1458087" y="222391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1858899" y="22549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o10"/>
          <p:cNvSpPr/>
          <p:nvPr/>
        </p:nvSpPr>
        <p:spPr>
          <a:xfrm>
            <a:off x="2259711" y="228203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2660523" y="230334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3061335" y="231757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3462147" y="23238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3862959" y="232173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4263771" y="231140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16"/>
          <p:cNvSpPr/>
          <p:nvPr/>
        </p:nvSpPr>
        <p:spPr>
          <a:xfrm>
            <a:off x="4664583" y="229349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17"/>
          <p:cNvSpPr/>
          <p:nvPr/>
        </p:nvSpPr>
        <p:spPr>
          <a:xfrm>
            <a:off x="5065395" y="226913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5466207" y="223984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o19"/>
          <p:cNvSpPr/>
          <p:nvPr/>
        </p:nvSpPr>
        <p:spPr>
          <a:xfrm>
            <a:off x="5867019" y="220746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6267831" y="21740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6668643" y="214166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22"/>
          <p:cNvSpPr/>
          <p:nvPr/>
        </p:nvSpPr>
        <p:spPr>
          <a:xfrm>
            <a:off x="7069455" y="211236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7470267" y="208800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7871079" y="20700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o25"/>
          <p:cNvSpPr/>
          <p:nvPr/>
        </p:nvSpPr>
        <p:spPr>
          <a:xfrm>
            <a:off x="8271891" y="205976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8672703" y="205766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27"/>
          <p:cNvSpPr/>
          <p:nvPr/>
        </p:nvSpPr>
        <p:spPr>
          <a:xfrm>
            <a:off x="9073515" y="2063926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o28"/>
          <p:cNvSpPr/>
          <p:nvPr/>
        </p:nvSpPr>
        <p:spPr>
          <a:xfrm>
            <a:off x="9474327" y="207815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o29"/>
          <p:cNvSpPr/>
          <p:nvPr/>
        </p:nvSpPr>
        <p:spPr>
          <a:xfrm>
            <a:off x="9875139" y="2099465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o30"/>
          <p:cNvSpPr/>
          <p:nvPr/>
        </p:nvSpPr>
        <p:spPr>
          <a:xfrm>
            <a:off x="10275951" y="212650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10676763" y="215758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32"/>
          <p:cNvSpPr/>
          <p:nvPr/>
        </p:nvSpPr>
        <p:spPr>
          <a:xfrm>
            <a:off x="11077575" y="219074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o33"/>
          <p:cNvSpPr/>
          <p:nvPr/>
        </p:nvSpPr>
        <p:spPr>
          <a:xfrm>
            <a:off x="1108710" y="219456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o34"/>
          <p:cNvSpPr/>
          <p:nvPr/>
        </p:nvSpPr>
        <p:spPr>
          <a:xfrm>
            <a:off x="1770380" y="224879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o35"/>
          <p:cNvSpPr/>
          <p:nvPr/>
        </p:nvSpPr>
        <p:spPr>
          <a:xfrm>
            <a:off x="2432050" y="229365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o36"/>
          <p:cNvSpPr/>
          <p:nvPr/>
        </p:nvSpPr>
        <p:spPr>
          <a:xfrm>
            <a:off x="3093720" y="2321383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o37"/>
          <p:cNvSpPr/>
          <p:nvPr/>
        </p:nvSpPr>
        <p:spPr>
          <a:xfrm>
            <a:off x="3755390" y="232718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o38"/>
          <p:cNvSpPr/>
          <p:nvPr/>
        </p:nvSpPr>
        <p:spPr>
          <a:xfrm>
            <a:off x="4417060" y="231004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o39"/>
          <p:cNvSpPr/>
          <p:nvPr/>
        </p:nvSpPr>
        <p:spPr>
          <a:xfrm>
            <a:off x="5078730" y="2272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o40"/>
          <p:cNvSpPr/>
          <p:nvPr/>
        </p:nvSpPr>
        <p:spPr>
          <a:xfrm>
            <a:off x="5740400" y="222228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o41"/>
          <p:cNvSpPr/>
          <p:nvPr/>
        </p:nvSpPr>
        <p:spPr>
          <a:xfrm>
            <a:off x="6402070" y="216683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o42"/>
          <p:cNvSpPr/>
          <p:nvPr/>
        </p:nvSpPr>
        <p:spPr>
          <a:xfrm>
            <a:off x="7063740" y="2116179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o43"/>
          <p:cNvSpPr/>
          <p:nvPr/>
        </p:nvSpPr>
        <p:spPr>
          <a:xfrm>
            <a:off x="7725410" y="207907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44"/>
          <p:cNvSpPr/>
          <p:nvPr/>
        </p:nvSpPr>
        <p:spPr>
          <a:xfrm>
            <a:off x="8387080" y="2061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o45"/>
          <p:cNvSpPr/>
          <p:nvPr/>
        </p:nvSpPr>
        <p:spPr>
          <a:xfrm>
            <a:off x="9048750" y="206773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46"/>
          <p:cNvSpPr txBox="1"/>
          <p:nvPr/>
        </p:nvSpPr>
        <p:spPr>
          <a:xfrm>
            <a:off x="990600" y="2466975"/>
            <a:ext cx="102108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sheath present</a:t>
            </a:r>
          </a:p>
        </p:txBody>
      </p:sp>
      <p:sp>
        <p:nvSpPr>
          <p:cNvPr id="47" name="t47"/>
          <p:cNvSpPr txBox="1"/>
          <p:nvPr/>
        </p:nvSpPr>
        <p:spPr>
          <a:xfrm>
            <a:off x="990600" y="2638425"/>
            <a:ext cx="102108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nuclei stop short of tail tip</a:t>
            </a:r>
          </a:p>
        </p:txBody>
      </p:sp>
      <p:sp>
        <p:nvSpPr>
          <p:cNvPr id="48" name="t48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sheathed microfilaria with graceful curves; the column of body nuclei stops short of a nucleus-free tail tip.</a:t>
            </a:r>
          </a:p>
        </p:txBody>
      </p:sp>
      <p:sp>
        <p:nvSpPr>
          <p:cNvPr id="49" name="t49"/>
          <p:cNvSpPr txBox="1"/>
          <p:nvPr/>
        </p:nvSpPr>
        <p:spPr>
          <a:xfrm>
            <a:off x="609600" y="3979069"/>
            <a:ext cx="10972800" cy="11930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Sheathed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; sheath does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not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stain with Giemsa (may appear as a clear halo).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Gentle, graceful body curves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; nuclei discrete and countable.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Tail tapers to a point; nuclei do NOT extend to the tip.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Nocturnal periodicity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→ draw blood ~22:00–02:00.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Causes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lymphatic filariasis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→ lymphoedema / elephantiasis, hydrocele.</a:t>
            </a:r>
          </a:p>
        </p:txBody>
      </p:sp>
      <p:sp>
        <p:nvSpPr>
          <p:cNvPr id="50" name="r5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5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other lymphatic filaria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Brugia malayi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6"/>
          <p:cNvSpPr/>
          <p:nvPr/>
        </p:nvSpPr>
        <p:spPr>
          <a:xfrm>
            <a:off x="990600" y="2066925"/>
            <a:ext cx="10210800" cy="285750"/>
          </a:xfrm>
          <a:prstGeom prst="roundRect">
            <a:avLst>
              <a:gd name="adj" fmla="val 50000"/>
            </a:avLst>
          </a:prstGeom>
          <a:solidFill>
            <a:srgbClr val="EDE0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1057275" y="219075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1458087" y="222391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1858899" y="22549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o10"/>
          <p:cNvSpPr/>
          <p:nvPr/>
        </p:nvSpPr>
        <p:spPr>
          <a:xfrm>
            <a:off x="2259711" y="228203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2660523" y="230334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3061335" y="231757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3462147" y="23238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3862959" y="232173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4263771" y="231140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16"/>
          <p:cNvSpPr/>
          <p:nvPr/>
        </p:nvSpPr>
        <p:spPr>
          <a:xfrm>
            <a:off x="4664583" y="229349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17"/>
          <p:cNvSpPr/>
          <p:nvPr/>
        </p:nvSpPr>
        <p:spPr>
          <a:xfrm>
            <a:off x="5065395" y="226913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5466207" y="223984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o19"/>
          <p:cNvSpPr/>
          <p:nvPr/>
        </p:nvSpPr>
        <p:spPr>
          <a:xfrm>
            <a:off x="5867019" y="220746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6267831" y="21740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6668643" y="214166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22"/>
          <p:cNvSpPr/>
          <p:nvPr/>
        </p:nvSpPr>
        <p:spPr>
          <a:xfrm>
            <a:off x="7069455" y="211236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7470267" y="208800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7871079" y="20700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o25"/>
          <p:cNvSpPr/>
          <p:nvPr/>
        </p:nvSpPr>
        <p:spPr>
          <a:xfrm>
            <a:off x="8271891" y="205976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8672703" y="205766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27"/>
          <p:cNvSpPr/>
          <p:nvPr/>
        </p:nvSpPr>
        <p:spPr>
          <a:xfrm>
            <a:off x="9073515" y="2063926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o28"/>
          <p:cNvSpPr/>
          <p:nvPr/>
        </p:nvSpPr>
        <p:spPr>
          <a:xfrm>
            <a:off x="9474327" y="207815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o29"/>
          <p:cNvSpPr/>
          <p:nvPr/>
        </p:nvSpPr>
        <p:spPr>
          <a:xfrm>
            <a:off x="9875139" y="2099465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o30"/>
          <p:cNvSpPr/>
          <p:nvPr/>
        </p:nvSpPr>
        <p:spPr>
          <a:xfrm>
            <a:off x="10275951" y="212650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10676763" y="215758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32"/>
          <p:cNvSpPr/>
          <p:nvPr/>
        </p:nvSpPr>
        <p:spPr>
          <a:xfrm>
            <a:off x="11077575" y="219074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o33"/>
          <p:cNvSpPr/>
          <p:nvPr/>
        </p:nvSpPr>
        <p:spPr>
          <a:xfrm>
            <a:off x="1108710" y="219456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o34"/>
          <p:cNvSpPr/>
          <p:nvPr/>
        </p:nvSpPr>
        <p:spPr>
          <a:xfrm>
            <a:off x="1770380" y="224879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o35"/>
          <p:cNvSpPr/>
          <p:nvPr/>
        </p:nvSpPr>
        <p:spPr>
          <a:xfrm>
            <a:off x="2432050" y="229365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o36"/>
          <p:cNvSpPr/>
          <p:nvPr/>
        </p:nvSpPr>
        <p:spPr>
          <a:xfrm>
            <a:off x="3093720" y="2321383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o37"/>
          <p:cNvSpPr/>
          <p:nvPr/>
        </p:nvSpPr>
        <p:spPr>
          <a:xfrm>
            <a:off x="3755390" y="232718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o38"/>
          <p:cNvSpPr/>
          <p:nvPr/>
        </p:nvSpPr>
        <p:spPr>
          <a:xfrm>
            <a:off x="4417060" y="231004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o39"/>
          <p:cNvSpPr/>
          <p:nvPr/>
        </p:nvSpPr>
        <p:spPr>
          <a:xfrm>
            <a:off x="5078730" y="2272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o40"/>
          <p:cNvSpPr/>
          <p:nvPr/>
        </p:nvSpPr>
        <p:spPr>
          <a:xfrm>
            <a:off x="5740400" y="222228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o41"/>
          <p:cNvSpPr/>
          <p:nvPr/>
        </p:nvSpPr>
        <p:spPr>
          <a:xfrm>
            <a:off x="6402070" y="216683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o42"/>
          <p:cNvSpPr/>
          <p:nvPr/>
        </p:nvSpPr>
        <p:spPr>
          <a:xfrm>
            <a:off x="7063740" y="2116179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o43"/>
          <p:cNvSpPr/>
          <p:nvPr/>
        </p:nvSpPr>
        <p:spPr>
          <a:xfrm>
            <a:off x="7725410" y="207907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44"/>
          <p:cNvSpPr/>
          <p:nvPr/>
        </p:nvSpPr>
        <p:spPr>
          <a:xfrm>
            <a:off x="8387080" y="2061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o45"/>
          <p:cNvSpPr/>
          <p:nvPr/>
        </p:nvSpPr>
        <p:spPr>
          <a:xfrm>
            <a:off x="9048750" y="206773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o46"/>
          <p:cNvSpPr/>
          <p:nvPr/>
        </p:nvSpPr>
        <p:spPr>
          <a:xfrm>
            <a:off x="9710420" y="209546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o47"/>
          <p:cNvSpPr/>
          <p:nvPr/>
        </p:nvSpPr>
        <p:spPr>
          <a:xfrm>
            <a:off x="10372090" y="214032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o48"/>
          <p:cNvSpPr/>
          <p:nvPr/>
        </p:nvSpPr>
        <p:spPr>
          <a:xfrm>
            <a:off x="11033760" y="2194559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o49"/>
          <p:cNvSpPr/>
          <p:nvPr/>
        </p:nvSpPr>
        <p:spPr>
          <a:xfrm>
            <a:off x="10877550" y="2190749"/>
            <a:ext cx="57150" cy="5715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o50"/>
          <p:cNvSpPr/>
          <p:nvPr/>
        </p:nvSpPr>
        <p:spPr>
          <a:xfrm>
            <a:off x="11029950" y="2190749"/>
            <a:ext cx="57150" cy="5715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51"/>
          <p:cNvSpPr txBox="1"/>
          <p:nvPr/>
        </p:nvSpPr>
        <p:spPr>
          <a:xfrm>
            <a:off x="990600" y="2466975"/>
            <a:ext cx="102108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sheath present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990600" y="2638425"/>
            <a:ext cx="102108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two separate terminal nuclei</a:t>
            </a:r>
          </a:p>
        </p:txBody>
      </p:sp>
      <p:sp>
        <p:nvSpPr>
          <p:cNvPr id="53" name="t53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kinky/angular body; sheath stains pink; two distinct terminal nuclei in the tail tip, separated from the main column.</a:t>
            </a:r>
          </a:p>
        </p:txBody>
      </p:sp>
      <p:sp>
        <p:nvSpPr>
          <p:cNvPr id="54" name="t54"/>
          <p:cNvSpPr txBox="1"/>
          <p:nvPr/>
        </p:nvSpPr>
        <p:spPr>
          <a:xfrm>
            <a:off x="609600" y="3979069"/>
            <a:ext cx="10972800" cy="962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Sheathed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; the sheath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stains pink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with Giemsa (unlike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Wuchereria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Stiffer, more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angular/kinky secondary curves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Two distinct nuclei at the very tip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of the tail, set apart from the body-nuclei column — the key feature.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Nocturnal periodicity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; causes lymphatic filariasis (Southeast &amp; South Asia).</a:t>
            </a:r>
          </a:p>
        </p:txBody>
      </p:sp>
      <p:sp>
        <p:nvSpPr>
          <p:cNvPr id="55" name="r5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56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57" name="t57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eye worm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Loa loa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6"/>
          <p:cNvSpPr/>
          <p:nvPr/>
        </p:nvSpPr>
        <p:spPr>
          <a:xfrm>
            <a:off x="990600" y="2066925"/>
            <a:ext cx="10210800" cy="285750"/>
          </a:xfrm>
          <a:prstGeom prst="roundRect">
            <a:avLst>
              <a:gd name="adj" fmla="val 50000"/>
            </a:avLst>
          </a:prstGeom>
          <a:solidFill>
            <a:srgbClr val="EDE0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1057275" y="219075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1458087" y="222391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1858899" y="22549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o10"/>
          <p:cNvSpPr/>
          <p:nvPr/>
        </p:nvSpPr>
        <p:spPr>
          <a:xfrm>
            <a:off x="2259711" y="228203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2660523" y="230334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3061335" y="231757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13"/>
          <p:cNvSpPr/>
          <p:nvPr/>
        </p:nvSpPr>
        <p:spPr>
          <a:xfrm>
            <a:off x="3462147" y="23238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3862959" y="232173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4263771" y="231140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16"/>
          <p:cNvSpPr/>
          <p:nvPr/>
        </p:nvSpPr>
        <p:spPr>
          <a:xfrm>
            <a:off x="4664583" y="229349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17"/>
          <p:cNvSpPr/>
          <p:nvPr/>
        </p:nvSpPr>
        <p:spPr>
          <a:xfrm>
            <a:off x="5065395" y="226913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5466207" y="2239840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o19"/>
          <p:cNvSpPr/>
          <p:nvPr/>
        </p:nvSpPr>
        <p:spPr>
          <a:xfrm>
            <a:off x="5867019" y="2207464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6267831" y="217403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6668643" y="2141661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22"/>
          <p:cNvSpPr/>
          <p:nvPr/>
        </p:nvSpPr>
        <p:spPr>
          <a:xfrm>
            <a:off x="7069455" y="211236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7470267" y="208800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7871079" y="207009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o25"/>
          <p:cNvSpPr/>
          <p:nvPr/>
        </p:nvSpPr>
        <p:spPr>
          <a:xfrm>
            <a:off x="8271891" y="2059762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8672703" y="2057663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27"/>
          <p:cNvSpPr/>
          <p:nvPr/>
        </p:nvSpPr>
        <p:spPr>
          <a:xfrm>
            <a:off x="9073515" y="2063926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o28"/>
          <p:cNvSpPr/>
          <p:nvPr/>
        </p:nvSpPr>
        <p:spPr>
          <a:xfrm>
            <a:off x="9474327" y="207815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o29"/>
          <p:cNvSpPr/>
          <p:nvPr/>
        </p:nvSpPr>
        <p:spPr>
          <a:xfrm>
            <a:off x="9875139" y="2099465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o30"/>
          <p:cNvSpPr/>
          <p:nvPr/>
        </p:nvSpPr>
        <p:spPr>
          <a:xfrm>
            <a:off x="10275951" y="2126508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10676763" y="2157587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32"/>
          <p:cNvSpPr/>
          <p:nvPr/>
        </p:nvSpPr>
        <p:spPr>
          <a:xfrm>
            <a:off x="11077575" y="2190749"/>
            <a:ext cx="57150" cy="5715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o33"/>
          <p:cNvSpPr/>
          <p:nvPr/>
        </p:nvSpPr>
        <p:spPr>
          <a:xfrm>
            <a:off x="1108710" y="219456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o34"/>
          <p:cNvSpPr/>
          <p:nvPr/>
        </p:nvSpPr>
        <p:spPr>
          <a:xfrm>
            <a:off x="1770380" y="224879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o35"/>
          <p:cNvSpPr/>
          <p:nvPr/>
        </p:nvSpPr>
        <p:spPr>
          <a:xfrm>
            <a:off x="2432050" y="2293658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o36"/>
          <p:cNvSpPr/>
          <p:nvPr/>
        </p:nvSpPr>
        <p:spPr>
          <a:xfrm>
            <a:off x="3093720" y="2321383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o37"/>
          <p:cNvSpPr/>
          <p:nvPr/>
        </p:nvSpPr>
        <p:spPr>
          <a:xfrm>
            <a:off x="3755390" y="2327180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o38"/>
          <p:cNvSpPr/>
          <p:nvPr/>
        </p:nvSpPr>
        <p:spPr>
          <a:xfrm>
            <a:off x="4417060" y="231004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o39"/>
          <p:cNvSpPr/>
          <p:nvPr/>
        </p:nvSpPr>
        <p:spPr>
          <a:xfrm>
            <a:off x="5078730" y="2272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o40"/>
          <p:cNvSpPr/>
          <p:nvPr/>
        </p:nvSpPr>
        <p:spPr>
          <a:xfrm>
            <a:off x="5740400" y="222228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o41"/>
          <p:cNvSpPr/>
          <p:nvPr/>
        </p:nvSpPr>
        <p:spPr>
          <a:xfrm>
            <a:off x="6402070" y="2166835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o42"/>
          <p:cNvSpPr/>
          <p:nvPr/>
        </p:nvSpPr>
        <p:spPr>
          <a:xfrm>
            <a:off x="7063740" y="2116179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o43"/>
          <p:cNvSpPr/>
          <p:nvPr/>
        </p:nvSpPr>
        <p:spPr>
          <a:xfrm>
            <a:off x="7725410" y="207907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44"/>
          <p:cNvSpPr/>
          <p:nvPr/>
        </p:nvSpPr>
        <p:spPr>
          <a:xfrm>
            <a:off x="8387080" y="206194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o45"/>
          <p:cNvSpPr/>
          <p:nvPr/>
        </p:nvSpPr>
        <p:spPr>
          <a:xfrm>
            <a:off x="9048750" y="2067736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o46"/>
          <p:cNvSpPr/>
          <p:nvPr/>
        </p:nvSpPr>
        <p:spPr>
          <a:xfrm>
            <a:off x="9710420" y="209546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o47"/>
          <p:cNvSpPr/>
          <p:nvPr/>
        </p:nvSpPr>
        <p:spPr>
          <a:xfrm>
            <a:off x="10372090" y="2140321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o48"/>
          <p:cNvSpPr/>
          <p:nvPr/>
        </p:nvSpPr>
        <p:spPr>
          <a:xfrm>
            <a:off x="11033760" y="2194559"/>
            <a:ext cx="49530" cy="4953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t49"/>
          <p:cNvSpPr txBox="1"/>
          <p:nvPr/>
        </p:nvSpPr>
        <p:spPr>
          <a:xfrm>
            <a:off x="990600" y="2466975"/>
            <a:ext cx="102108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sheath present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990600" y="2638425"/>
            <a:ext cx="102108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nuclei extend to tail tip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sheathed microfilaria in which the column of nuclei continues into the tip of the tail (contrast with Wuchereria).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609600" y="3979069"/>
            <a:ext cx="10972800" cy="962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Sheathed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; sheath does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not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stain with Giemsa.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Nuclei extend continuously to the tip of the tail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— the defining feature.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Diurnal periodicity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→ draw blood around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midday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Causes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loiasis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: transient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Calabar swellings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and the adult worm crossing the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conjunctiva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("eye worm"); central/west Africa; marked eosinophilia.</a:t>
            </a:r>
          </a:p>
        </p:txBody>
      </p:sp>
      <p:sp>
        <p:nvSpPr>
          <p:cNvPr id="53" name="r5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54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55" name="t55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unsheathed ones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Mansonella species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31445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M. perstans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Unsheathed.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Blunt, rounded tail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with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nuclei extending to the tip.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Non-periodic.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Usually mild / often asymptomatic; Africa &amp; South America.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31445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M. ozzardi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Unsheathed.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Long, pointed tail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with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nuclei NOT reaching the tip.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Non-periodic.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New World (Latin America/Caribbean).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667000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2667000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2743200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WHERE THEY SIT IN THE KEY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The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Mansonella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species are the main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blood microfilariae without a sheath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After you establish "no sheath," the tail (blunt with nuclei to tip =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perstans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; pointed without nuclei to tip =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ozzardi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) separates them.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Onchocerca volvulus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is unsheathed too but lives in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skin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not blood — diagnosed by skin snip, not film.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microfilaria master key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Differentiating blood microfilariae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tbl5"/>
          <p:cNvGraphicFramePr/>
          <p:nvPr/>
        </p:nvGraphicFramePr>
        <p:xfrm>
          <a:off x="609600" y="1219200"/>
          <a:ext cx="10972800" cy="1804988"/>
        </p:xfrm>
        <a:graphic>
          <a:graphicData uri="http://schemas.openxmlformats.org/drawingml/2006/table">
            <a:tbl>
              <a:tblPr firstRow="1" bandRow="0"/>
              <a:tblGrid>
                <a:gridCol w="2992582"/>
                <a:gridCol w="1995055"/>
                <a:gridCol w="1995055"/>
                <a:gridCol w="1995055"/>
                <a:gridCol w="1995055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Species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 stain (Giemsa)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Tail nuclei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Periodicity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W. bancrofti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Does not stain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Do </a:t>
                      </a: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not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reach tip (tip clear)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Nocturnal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B. malayi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Stains pink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Two separate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terminal nuclei at tip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Nocturnal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Loa loa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7F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Does not stain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Continuous </a:t>
                      </a: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to the tip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Diurnal (midday)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M. perstans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Unsheathed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DEB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—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To tip; </a:t>
                      </a: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blunt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tail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Non-periodic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M. ozzardi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Unsheathed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DEB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—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Not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to tip; pointed tail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Non-periodic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6"/>
          <p:cNvSpPr/>
          <p:nvPr/>
        </p:nvSpPr>
        <p:spPr>
          <a:xfrm>
            <a:off x="609600" y="3157538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7"/>
          <p:cNvSpPr/>
          <p:nvPr/>
        </p:nvSpPr>
        <p:spPr>
          <a:xfrm>
            <a:off x="609600" y="3157538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762000" y="3233738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DECISION PATH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Sheath?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→ No: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Mansonella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(tail decides perstans vs ozzardi). Yes →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nuclei to the tip?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Yes =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Loa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No =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Wuchereria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(clear tip) or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Brugia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(two terminal nuclei + pink sheath).</a:t>
            </a:r>
          </a:p>
        </p:txBody>
      </p:sp>
      <p:sp>
        <p:nvSpPr>
          <p:cNvPr id="9" name="t9"/>
          <p:cNvSpPr txBox="1"/>
          <p:nvPr/>
        </p:nvSpPr>
        <p:spPr>
          <a:xfrm>
            <a:off x="609600" y="403860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Features compiled from Garcia, 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Diagnostic Medical Parasitology</a:t>
            </a:r>
            <a:r>
              <a:rPr lang="en-US" sz="1050" i="1">
                <a:solidFill>
                  <a:srgbClr val="6E6E73"/>
                </a:solidFill>
                <a:latin typeface="+mn-lt"/>
              </a:rPr>
              <a:t>, and CDC DPDx. Content rephrased for compliance with licensing restrictions.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Getting the parasite into the specimen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Periodicity &amp; concentration techniques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202882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838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Timing the draw (periodicity)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Nocturnal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W. bancrofti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B. malayi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): sample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22:00–02:00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Diurnal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Loa loa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): sample around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midday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Non-periodic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(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Mansonella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): any time.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Wrong timing is a common cause of a falsely negative film.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2028825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838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Concentration methods (low counts)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Knott's concentration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centrifuge blood in 2% formalin; examine the deposit.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Membrane (Nuclepore) filtration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filter blood; microfilariae trapped on membrane.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Thick film + Giemsa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routine screening.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DEC provocation test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diethylcarbamazine draws nocturnal microfilariae into peripheral blood by day (use with caution in </a:t>
            </a:r>
            <a:r>
              <a:rPr lang="en-US" sz="1250" i="1">
                <a:solidFill>
                  <a:srgbClr val="1D1D1F"/>
                </a:solidFill>
                <a:latin typeface="+mn-lt"/>
              </a:rPr>
              <a:t>Loa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— risk of severe reactions).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338137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3381375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345757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SAFETY NOTE THE PATHOLOGIST SHOULD KNOW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High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Loa loa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microfilarial loads carry a risk of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encephalopathy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with DEC or ivermectin — quantifying the microfilarial density before treatment is clinically important, another reason accurate counts matter.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5 · Flagellate protozoa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Trypanosomes — the extracellular flagellates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Trypanosomes are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free-swimming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flagellated protozoa seen 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between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the blood cells (trypomastigote form). Two clinically distinct groups: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1962150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/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African trypanosomiasis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American trypanosomiasis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Organism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T. brucei gambiense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(chronic, West/Central Africa) &amp;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rhodesiense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(acute, East Africa)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T. cruzi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Disease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Sleeping sickness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Chagas disease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Vector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Tsetse fly (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Glossina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Reduviid / "kissing" bug (triatomine), faecal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Sign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Winterbottom's sign (posterior cervical nodes); chancre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Romaña's sign (unilateral periorbital oedema)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In blood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Trypomastigotes readily seen (esp.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rhodesiense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Trypomastigotes in </a:t>
                      </a: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acute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phase; scanty in chronic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7052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705225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7814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WHERE THE PARASITE HIDES IN CHAGAS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In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chronic Chagas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blood trypomastigotes are scarce; the parasite persists intracellularly as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amastigotes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in cardiac and smooth muscle — diagnosis then relies on serology/PCR, not the film.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Recognising the trypomastigote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Trypanosome morphology &amp; diagnosis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o6"/>
          <p:cNvSpPr/>
          <p:nvPr/>
        </p:nvSpPr>
        <p:spPr>
          <a:xfrm>
            <a:off x="4572000" y="1971675"/>
            <a:ext cx="3048000" cy="495300"/>
          </a:xfrm>
          <a:prstGeom prst="ellipse">
            <a:avLst/>
          </a:prstGeom>
          <a:solidFill>
            <a:srgbClr val="BCD3F0"/>
          </a:solidFill>
          <a:ln w="15240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5962650" y="2105025"/>
            <a:ext cx="266700" cy="228600"/>
          </a:xfrm>
          <a:prstGeom prst="ellipse">
            <a:avLst/>
          </a:prstGeom>
          <a:solidFill>
            <a:srgbClr val="7FB0E8"/>
          </a:solidFill>
          <a:ln w="9525">
            <a:solidFill>
              <a:srgbClr val="3f6f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4591050" y="2162175"/>
            <a:ext cx="133350" cy="133350"/>
          </a:xfrm>
          <a:prstGeom prst="ellipse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" name="l9"/>
          <p:cNvCxnSpPr/>
          <p:nvPr/>
        </p:nvCxnSpPr>
        <p:spPr>
          <a:xfrm flipV="1">
            <a:off x="7620000" y="2009775"/>
            <a:ext cx="762000" cy="209550"/>
          </a:xfrm>
          <a:prstGeom prst="line">
            <a:avLst/>
          </a:prstGeom>
          <a:ln w="23812">
            <a:solidFill>
              <a:srgbClr val="0A84FF"/>
            </a:solidFill>
          </a:ln>
        </p:spPr>
      </p:cxnSp>
      <p:sp>
        <p:nvSpPr>
          <p:cNvPr id="10" name="t10"/>
          <p:cNvSpPr txBox="1"/>
          <p:nvPr/>
        </p:nvSpPr>
        <p:spPr>
          <a:xfrm>
            <a:off x="3619500" y="2600325"/>
            <a:ext cx="17145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0A84FF"/>
                </a:solidFill>
                <a:latin typeface="+mn-lt"/>
              </a:rPr>
              <a:t>kinetoplast (posterior)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5810250" y="1685925"/>
            <a:ext cx="11430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0A84FF"/>
                </a:solidFill>
                <a:latin typeface="+mn-lt"/>
              </a:rPr>
              <a:t>nucleus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524750" y="1724025"/>
            <a:ext cx="142875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0A84FF"/>
                </a:solidFill>
                <a:latin typeface="+mn-lt"/>
              </a:rPr>
              <a:t>free flagellum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953000" y="2771775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6E6E73"/>
                </a:solidFill>
                <a:latin typeface="+mn-lt"/>
              </a:rPr>
              <a:t>undulating membrane along body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trypomastigote — elongated body, central nucleus, posterior kinetoplast, an undulating membrane along the body, and a free anterior flagellum.</a:t>
            </a:r>
          </a:p>
        </p:txBody>
      </p:sp>
      <p:sp>
        <p:nvSpPr>
          <p:cNvPr id="15" name="r15"/>
          <p:cNvSpPr/>
          <p:nvPr/>
        </p:nvSpPr>
        <p:spPr>
          <a:xfrm>
            <a:off x="609600" y="3979069"/>
            <a:ext cx="5400675" cy="900112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723900" y="4074319"/>
            <a:ext cx="5172075" cy="709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Distinguishing the two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i="1">
                <a:solidFill>
                  <a:srgbClr val="1D1D1F"/>
                </a:solidFill>
                <a:latin typeface="+mn-lt"/>
              </a:rPr>
              <a:t>T. cruzi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: often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C- or U-shaped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, large kinetoplast.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i="1">
                <a:solidFill>
                  <a:srgbClr val="1D1D1F"/>
                </a:solidFill>
                <a:latin typeface="+mn-lt"/>
              </a:rPr>
              <a:t>T. brucei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: more slender; kinetoplast small.</a:t>
            </a:r>
          </a:p>
        </p:txBody>
      </p:sp>
      <p:sp>
        <p:nvSpPr>
          <p:cNvPr id="17" name="r17"/>
          <p:cNvSpPr/>
          <p:nvPr/>
        </p:nvSpPr>
        <p:spPr>
          <a:xfrm>
            <a:off x="6181725" y="3979069"/>
            <a:ext cx="5400675" cy="900112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6296025" y="4074319"/>
            <a:ext cx="5172075" cy="709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Diagnosis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Thick/thin film,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buffy coat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, wet prep (motile organisms).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Lymph-node aspirate, CSF (staging African disease); serology/PCR.</a:t>
            </a:r>
          </a:p>
        </p:txBody>
      </p:sp>
      <p:sp>
        <p:nvSpPr>
          <p:cNvPr id="19" name="r19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6 · Intracellular protozoa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Visceral leishmaniasis &amp; LD bodies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i="1">
                <a:solidFill>
                  <a:srgbClr val="1D1D1F"/>
                </a:solidFill>
                <a:latin typeface="+mn-lt"/>
              </a:rPr>
              <a:t>Leishmania donovani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(visceral leishmaniasis /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kala-azar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) is transmitted by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sandfly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(</a:t>
            </a:r>
            <a:r>
              <a:rPr lang="en-US" sz="1400" i="1">
                <a:solidFill>
                  <a:srgbClr val="1D1D1F"/>
                </a:solidFill>
                <a:latin typeface="+mn-lt"/>
              </a:rPr>
              <a:t>Phlebotomus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). In the human host it lives as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amastigote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—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Leishman–Donovan (LD) body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— inside macrophages of the spleen, liver, and bone marrow.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Clinical picture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Fever, massive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splenomegaly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weight loss, darkening of skin (kala-azar = "black fever").</a:t>
            </a:r>
          </a:p>
        </p:txBody>
      </p:sp>
      <p:sp>
        <p:nvSpPr>
          <p:cNvPr id="8" name="r8"/>
          <p:cNvSpPr/>
          <p:nvPr/>
        </p:nvSpPr>
        <p:spPr>
          <a:xfrm>
            <a:off x="431165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440690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Blood picture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Pancytopenia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(hypersplenism + marrow involvement); marked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polyclonal hypergammaglobulinaemia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→ very high ESR, rouleaux.</a:t>
            </a:r>
          </a:p>
        </p:txBody>
      </p:sp>
      <p:sp>
        <p:nvSpPr>
          <p:cNvPr id="10" name="r10"/>
          <p:cNvSpPr/>
          <p:nvPr/>
        </p:nvSpPr>
        <p:spPr>
          <a:xfrm>
            <a:off x="8013700" y="180975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8108950" y="188595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Best specimens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Splenic aspirate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(highest sensitivity, but risky) &gt;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bone marrow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&gt; lymph node; buffy-coat smears in HIV co-infection.</a:t>
            </a:r>
          </a:p>
        </p:txBody>
      </p:sp>
      <p:sp>
        <p:nvSpPr>
          <p:cNvPr id="12" name="r12"/>
          <p:cNvSpPr/>
          <p:nvPr/>
        </p:nvSpPr>
        <p:spPr>
          <a:xfrm>
            <a:off x="609600" y="2945606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13"/>
          <p:cNvSpPr/>
          <p:nvPr/>
        </p:nvSpPr>
        <p:spPr>
          <a:xfrm>
            <a:off x="609600" y="2945606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762000" y="3021806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WHEN TO THINK OF IT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 marrow examined for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unexplained pancytopenia with splenomegaly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, especially in a patient from an endemic area (Indian subcontinent, East Africa, Mediterranean, Brazil), should be scrutinised for LD bodies within macrophages.</a:t>
            </a:r>
          </a:p>
        </p:txBody>
      </p:sp>
      <p:sp>
        <p:nvSpPr>
          <p:cNvPr id="15" name="r1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Recognising the amastigote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LD-body morphology in the marrow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o6"/>
          <p:cNvSpPr/>
          <p:nvPr/>
        </p:nvSpPr>
        <p:spPr>
          <a:xfrm>
            <a:off x="2977896" y="1743075"/>
            <a:ext cx="2286000" cy="1333500"/>
          </a:xfrm>
          <a:prstGeom prst="ellipse">
            <a:avLst/>
          </a:prstGeom>
          <a:solidFill>
            <a:srgbClr val="EAF1FB"/>
          </a:solidFill>
          <a:ln w="19050">
            <a:solidFill>
              <a:srgbClr val="8aa9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7"/>
          <p:cNvSpPr/>
          <p:nvPr/>
        </p:nvSpPr>
        <p:spPr>
          <a:xfrm>
            <a:off x="3454146" y="1876425"/>
            <a:ext cx="476250" cy="361950"/>
          </a:xfrm>
          <a:prstGeom prst="ellipse">
            <a:avLst/>
          </a:prstGeom>
          <a:solidFill>
            <a:srgbClr val="9DB8E0"/>
          </a:solidFill>
          <a:ln w="9525">
            <a:solidFill>
              <a:srgbClr val="5e7c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8"/>
          <p:cNvSpPr/>
          <p:nvPr/>
        </p:nvSpPr>
        <p:spPr>
          <a:xfrm>
            <a:off x="3666697" y="2462578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9"/>
          <p:cNvSpPr/>
          <p:nvPr/>
        </p:nvSpPr>
        <p:spPr>
          <a:xfrm>
            <a:off x="3714322" y="2510203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3790522" y="2519728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11"/>
          <p:cNvSpPr/>
          <p:nvPr/>
        </p:nvSpPr>
        <p:spPr>
          <a:xfrm>
            <a:off x="3842706" y="2508062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o12"/>
          <p:cNvSpPr/>
          <p:nvPr/>
        </p:nvSpPr>
        <p:spPr>
          <a:xfrm>
            <a:off x="3890331" y="2555687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13"/>
          <p:cNvSpPr/>
          <p:nvPr/>
        </p:nvSpPr>
        <p:spPr>
          <a:xfrm>
            <a:off x="3966531" y="2565212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o14"/>
          <p:cNvSpPr/>
          <p:nvPr/>
        </p:nvSpPr>
        <p:spPr>
          <a:xfrm>
            <a:off x="4183769" y="2097808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o15"/>
          <p:cNvSpPr/>
          <p:nvPr/>
        </p:nvSpPr>
        <p:spPr>
          <a:xfrm>
            <a:off x="4231394" y="2145433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16"/>
          <p:cNvSpPr/>
          <p:nvPr/>
        </p:nvSpPr>
        <p:spPr>
          <a:xfrm>
            <a:off x="4307594" y="2154958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17"/>
          <p:cNvSpPr/>
          <p:nvPr/>
        </p:nvSpPr>
        <p:spPr>
          <a:xfrm>
            <a:off x="3366931" y="2686026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o18"/>
          <p:cNvSpPr/>
          <p:nvPr/>
        </p:nvSpPr>
        <p:spPr>
          <a:xfrm>
            <a:off x="3414556" y="2733651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19"/>
          <p:cNvSpPr/>
          <p:nvPr/>
        </p:nvSpPr>
        <p:spPr>
          <a:xfrm>
            <a:off x="3490756" y="2743176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20"/>
          <p:cNvSpPr/>
          <p:nvPr/>
        </p:nvSpPr>
        <p:spPr>
          <a:xfrm>
            <a:off x="3695220" y="2226435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o21"/>
          <p:cNvSpPr/>
          <p:nvPr/>
        </p:nvSpPr>
        <p:spPr>
          <a:xfrm>
            <a:off x="3742845" y="2274060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22"/>
          <p:cNvSpPr/>
          <p:nvPr/>
        </p:nvSpPr>
        <p:spPr>
          <a:xfrm>
            <a:off x="3819045" y="2283585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23"/>
          <p:cNvSpPr/>
          <p:nvPr/>
        </p:nvSpPr>
        <p:spPr>
          <a:xfrm>
            <a:off x="4677063" y="2406216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o24"/>
          <p:cNvSpPr/>
          <p:nvPr/>
        </p:nvSpPr>
        <p:spPr>
          <a:xfrm>
            <a:off x="4724688" y="2453841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25"/>
          <p:cNvSpPr/>
          <p:nvPr/>
        </p:nvSpPr>
        <p:spPr>
          <a:xfrm>
            <a:off x="4800888" y="2463366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o26"/>
          <p:cNvSpPr/>
          <p:nvPr/>
        </p:nvSpPr>
        <p:spPr>
          <a:xfrm>
            <a:off x="4464792" y="2410856"/>
            <a:ext cx="209550" cy="152400"/>
          </a:xfrm>
          <a:prstGeom prst="ellipse">
            <a:avLst/>
          </a:prstGeom>
          <a:solidFill>
            <a:srgbClr val="CFE0F5"/>
          </a:solidFill>
          <a:ln w="952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o27"/>
          <p:cNvSpPr/>
          <p:nvPr/>
        </p:nvSpPr>
        <p:spPr>
          <a:xfrm>
            <a:off x="4512417" y="2458481"/>
            <a:ext cx="57150" cy="5715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28"/>
          <p:cNvSpPr/>
          <p:nvPr/>
        </p:nvSpPr>
        <p:spPr>
          <a:xfrm>
            <a:off x="4588617" y="2468006"/>
            <a:ext cx="57150" cy="2857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29"/>
          <p:cNvSpPr txBox="1"/>
          <p:nvPr/>
        </p:nvSpPr>
        <p:spPr>
          <a:xfrm>
            <a:off x="2977896" y="3133725"/>
            <a:ext cx="2286000" cy="175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Macrophage packed with LD bodies</a:t>
            </a:r>
          </a:p>
        </p:txBody>
      </p:sp>
      <p:sp>
        <p:nvSpPr>
          <p:cNvPr id="30" name="o30"/>
          <p:cNvSpPr/>
          <p:nvPr/>
        </p:nvSpPr>
        <p:spPr>
          <a:xfrm>
            <a:off x="8291322" y="2105025"/>
            <a:ext cx="876300" cy="628650"/>
          </a:xfrm>
          <a:prstGeom prst="ellipse">
            <a:avLst/>
          </a:prstGeom>
          <a:solidFill>
            <a:srgbClr val="CFE0F5"/>
          </a:solidFill>
          <a:ln w="13335">
            <a:solidFill>
              <a:srgbClr val="4a6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o31"/>
          <p:cNvSpPr/>
          <p:nvPr/>
        </p:nvSpPr>
        <p:spPr>
          <a:xfrm>
            <a:off x="8519922" y="2295525"/>
            <a:ext cx="228600" cy="228600"/>
          </a:xfrm>
          <a:prstGeom prst="ellipse">
            <a:avLst/>
          </a:prstGeom>
          <a:solidFill>
            <a:srgbClr val="7A1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32"/>
          <p:cNvSpPr/>
          <p:nvPr/>
        </p:nvSpPr>
        <p:spPr>
          <a:xfrm>
            <a:off x="8786622" y="2333625"/>
            <a:ext cx="209550" cy="85725"/>
          </a:xfrm>
          <a:prstGeom prst="rect">
            <a:avLst/>
          </a:prstGeom>
          <a:solidFill>
            <a:srgbClr val="B300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8062722" y="2790825"/>
            <a:ext cx="1333500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amastigote (enlarged)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8062722" y="1914525"/>
            <a:ext cx="57150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>
                <a:solidFill>
                  <a:srgbClr val="0A84FF"/>
                </a:solidFill>
                <a:latin typeface="+mn-lt"/>
              </a:rPr>
              <a:t>nucleus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8748522" y="1914525"/>
            <a:ext cx="857250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>
                <a:solidFill>
                  <a:srgbClr val="0A84FF"/>
                </a:solidFill>
                <a:latin typeface="+mn-lt"/>
              </a:rPr>
              <a:t>kinetoplast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609600" y="3638550"/>
            <a:ext cx="10972800" cy="2071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Schematic — small oval amastigotes (LD bodies) filling a macrophage; each has a round nucleus plus a rod-shaped kinetoplast ("double dot") and no external flagellum.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609600" y="3979069"/>
            <a:ext cx="10972800" cy="7310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2–4 µm oval bodies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, intracellular (macrophage) or extracellular if the cell has ruptured.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Two-dot sign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: round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nucleus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+ smaller rod-like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kinetoplast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— the pair is the key to identification.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Confirm with culture (NNN medium), </a:t>
            </a:r>
            <a:r>
              <a:rPr lang="en-US" sz="1350" b="1">
                <a:solidFill>
                  <a:srgbClr val="1D1D1F"/>
                </a:solidFill>
                <a:latin typeface="+mn-lt"/>
              </a:rPr>
              <a:t>rK39 serology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, or PCR; the amastigote in a marrow macrophage is diagnostic.</a:t>
            </a:r>
          </a:p>
        </p:txBody>
      </p:sp>
      <p:sp>
        <p:nvSpPr>
          <p:cNvPr id="38" name="r38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39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Rare but important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Other organisms in blood / marrow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04850" y="12954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Toxoplasma gondii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Crescentic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tachyzoites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occasionally in buffy coat/marrow of the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severely immunocompromised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Usually diagnosed serologically/PCR, not on film.</a:t>
            </a:r>
          </a:p>
        </p:txBody>
      </p:sp>
      <p:sp>
        <p:nvSpPr>
          <p:cNvPr id="7" name="r7"/>
          <p:cNvSpPr/>
          <p:nvPr/>
        </p:nvSpPr>
        <p:spPr>
          <a:xfrm>
            <a:off x="6162675" y="12192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57925" y="12954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Histoplasma (mimic!)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i="1">
                <a:solidFill>
                  <a:srgbClr val="1D1D1F"/>
                </a:solidFill>
                <a:latin typeface="+mn-lt"/>
              </a:rPr>
              <a:t>Histoplasma capsulatum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yeasts inside macrophages closely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mimic LD bodies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— but have a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clear halo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no kinetoplast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A classic trap in HIV marrows.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0574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704850" y="21336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Microsporidia / others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Rarely relevant to the blood film; mentioned for completeness in immunodeficiency.</a:t>
            </a:r>
          </a:p>
        </p:txBody>
      </p:sp>
      <p:sp>
        <p:nvSpPr>
          <p:cNvPr id="11" name="r11"/>
          <p:cNvSpPr/>
          <p:nvPr/>
        </p:nvSpPr>
        <p:spPr>
          <a:xfrm>
            <a:off x="6162675" y="20574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6257925" y="21336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Strongyloides (hyperinfection)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Larvae rarely in sputum/stool, not blood — but causes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eosinophilia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and, in hyperinfection, Gram-negative sepsis.</a:t>
            </a:r>
          </a:p>
        </p:txBody>
      </p:sp>
      <p:sp>
        <p:nvSpPr>
          <p:cNvPr id="13" name="r13"/>
          <p:cNvSpPr/>
          <p:nvPr/>
        </p:nvSpPr>
        <p:spPr>
          <a:xfrm>
            <a:off x="609600" y="3028950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14"/>
          <p:cNvSpPr/>
          <p:nvPr/>
        </p:nvSpPr>
        <p:spPr>
          <a:xfrm>
            <a:off x="609600" y="3028950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762000" y="3105150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THE SINGLE MOST IMPORTANT DISTINCTION HERE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LD body vs Histoplasma: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the amastigote has a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kinetoplast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(the extra rod/dot) and lies directly in cytoplasm;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Histoplasma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has a surrounding clear halo (artefactual capsule) and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no kinetoplast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Get this wrong and the treatment is completely different.</a:t>
            </a:r>
          </a:p>
        </p:txBody>
      </p:sp>
      <p:sp>
        <p:nvSpPr>
          <p:cNvPr id="16" name="r1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Parasites that never appear on the film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Gut parasites with haematological effects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These organisms live in the intestine, yet the </a:t>
            </a:r>
            <a:r>
              <a:rPr lang="en-US" sz="1400" b="1">
                <a:solidFill>
                  <a:srgbClr val="1D1D1F"/>
                </a:solidFill>
                <a:latin typeface="+mn-lt"/>
              </a:rPr>
              <a:t>haematologist meets them as an anaemia</a:t>
            </a:r>
            <a:r>
              <a:rPr lang="en-US" sz="1400">
                <a:solidFill>
                  <a:srgbClr val="1D1D1F"/>
                </a:solidFill>
                <a:latin typeface="+mn-lt"/>
              </a:rPr>
              <a:t> whose cause is only found on stool examination.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1847850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Parasite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Mechanism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Blood picture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Hookworm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Ancylostoma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Necator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Chronic intestinal blood loss (worms feed on mucosa)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Iron-deficiency anaemia — microcytic, hypochromic; ± eosinophilia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Diphyllobothrium latum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(fish tapeworm)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Competes for / absorbs vitamin B12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Megaloblastic (macrocytic) anaemia; hypersegmented neutrophils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Trichuris trichiura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 (whipworm)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Mucosal damage / blood loss in heavy load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Iron-deficiency anaemia (children); ± eosinophilia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Schistosoma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Chronic GI/urinary blood loss; hypersplenism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Iron-deficiency anaemia; anaemia of chronic disease; eosinophilia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4F0FE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59092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590925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66712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TWO CLEAN ASSOCIATIONS TO REMEMBER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Hookworm → iron deficiency (microcytic)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;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fish tapeworm → B12 deficiency (macrocytic).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A microcytic anaemia with eosinophilia in an endemic-area patient should prompt a stool examination for ova.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The systemic blood response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How parasites disturb the blood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04850" y="12954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Anaemia — many mechanisms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Haemolysis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(malaria, babesia),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blood loss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(hookworm),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marrow suppression/dyserythropoiesis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hypersplenism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(kala-azar), and nutrient loss (B12/iron).</a:t>
            </a:r>
          </a:p>
        </p:txBody>
      </p:sp>
      <p:sp>
        <p:nvSpPr>
          <p:cNvPr id="7" name="r7"/>
          <p:cNvSpPr/>
          <p:nvPr/>
        </p:nvSpPr>
        <p:spPr>
          <a:xfrm>
            <a:off x="6162675" y="12192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57925" y="12954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Eosinophilia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Hallmark of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tissue-invasive helminths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(filariae, hookworm, strongyloides, schistosomes). Protozoa (malaria, leishmania) usually do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not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raise eosinophils.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20574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704850" y="21336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Thrombocytopenia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Very common in malaria; also seen in visceral leishmaniasis (hypersplenism).</a:t>
            </a:r>
          </a:p>
        </p:txBody>
      </p:sp>
      <p:sp>
        <p:nvSpPr>
          <p:cNvPr id="11" name="r11"/>
          <p:cNvSpPr/>
          <p:nvPr/>
        </p:nvSpPr>
        <p:spPr>
          <a:xfrm>
            <a:off x="6162675" y="2057400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6257925" y="2133600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Haemophagocytosis / HLH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Malaria, leishmaniasis and other infections can trigger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haemophagocytic lymphohistiocytosis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— macrophages engulfing blood cells in the marrow.</a:t>
            </a:r>
          </a:p>
        </p:txBody>
      </p:sp>
      <p:sp>
        <p:nvSpPr>
          <p:cNvPr id="13" name="r13"/>
          <p:cNvSpPr/>
          <p:nvPr/>
        </p:nvSpPr>
        <p:spPr>
          <a:xfrm>
            <a:off x="609600" y="3028950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14"/>
          <p:cNvSpPr/>
          <p:nvPr/>
        </p:nvSpPr>
        <p:spPr>
          <a:xfrm>
            <a:off x="609600" y="3028950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762000" y="3105150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A QUICK DISCRIMINATOR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1">
                <a:solidFill>
                  <a:srgbClr val="1D1D1F"/>
                </a:solidFill>
                <a:latin typeface="+mn-lt"/>
              </a:rPr>
              <a:t>Eosinophilia points to worms, not protozoa.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So a febrile patient with prominent eosinophilia is more likely to have filariasis/strongyloidiasis than malaria — a useful steer when the film is not obviously positive.</a:t>
            </a:r>
          </a:p>
        </p:txBody>
      </p:sp>
      <p:sp>
        <p:nvSpPr>
          <p:cNvPr id="16" name="r1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When the film isn't enough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Bone marrow examination for parasites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The marrow is a key specimen when organisms are intracellular or scanty in blood. What the pathologist looks for: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1609725"/>
            <a:ext cx="10972800" cy="11930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Leishmania (LD bodies)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within macrophages — the leading indication; examine oil-immersion of aspirate smears and touch imprints systematically.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Haemophagocytosis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— macrophages engulfing red cells, platelets and precursors (infection-associated HLH).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Malarial pigment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in marrow macrophages (heavy/treated malaria); dyserythropoiesis.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Toxoplasma / Histoplasma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in immunocompromised (remember the LD-body mimic).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50">
                <a:solidFill>
                  <a:srgbClr val="1D1D1F"/>
                </a:solidFill>
                <a:latin typeface="+mn-lt"/>
              </a:rPr>
              <a:t>Reactive changes: plasmacytosis (kala-azar), erythroid hyperplasia (haemolysis) or hypoplasia.</a:t>
            </a:r>
          </a:p>
        </p:txBody>
      </p:sp>
      <p:sp>
        <p:nvSpPr>
          <p:cNvPr id="7" name="r7"/>
          <p:cNvSpPr/>
          <p:nvPr/>
        </p:nvSpPr>
        <p:spPr>
          <a:xfrm>
            <a:off x="609600" y="2936081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2936081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3012281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TECHNIQUE TIP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For LD bodies, scan the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tails and edges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of the smear where intact macrophages settle, and always at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×100 oil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A negative aspirate does not exclude visceral leishmaniasis — sensitivity is highest for splenic aspirate, then marrow.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Section 7 · Laboratory methods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Concentration &amp; special techniques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When organisms are scanty, concentration boosts sensitivity. Match the method to the target:</a:t>
            </a:r>
          </a:p>
        </p:txBody>
      </p:sp>
      <p:graphicFrame>
        <p:nvGraphicFramePr>
          <p:cNvPr id="6" name="tbl6"/>
          <p:cNvGraphicFramePr/>
          <p:nvPr/>
        </p:nvGraphicFramePr>
        <p:xfrm>
          <a:off x="609600" y="1609725"/>
          <a:ext cx="10972800" cy="2233612"/>
        </p:xfrm>
        <a:graphic>
          <a:graphicData uri="http://schemas.openxmlformats.org/drawingml/2006/table">
            <a:tbl>
              <a:tblPr firstRow="1" bandRow="0"/>
              <a:tblGrid>
                <a:gridCol w="4702629"/>
                <a:gridCol w="3135086"/>
                <a:gridCol w="3135086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Technique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Target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Principle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Thick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Malaria, microfilariae, trypanosomes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Concentrates ~10–20× blood volume; lyses RBCs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Buffy-coat smear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Trypanosomes,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Concentrates WBC/parasite layer after centrifugation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QBC (acridine orange)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Malaria, trypanosomes, 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Fluorescent DNA stain in a spun capillary; sensitive but no speciation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Knott's concentration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Lyse in 2% formalin, centrifuge, examine deposit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Membrane filtration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Blood filtered through polycarbonate membrane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Culture (NNN)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, </a:t>
                      </a:r>
                      <a:r>
                        <a:rPr lang="en-US" sz="1100" i="1">
                          <a:solidFill>
                            <a:srgbClr val="1D1D1F"/>
                          </a:solidFill>
                          <a:latin typeface="+mn-lt"/>
                        </a:rPr>
                        <a:t>T. cruzi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Grows promastigotes/epimastigotes from aspirates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7"/>
          <p:cNvSpPr/>
          <p:nvPr/>
        </p:nvSpPr>
        <p:spPr>
          <a:xfrm>
            <a:off x="609600" y="3976688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8"/>
          <p:cNvSpPr/>
          <p:nvPr/>
        </p:nvSpPr>
        <p:spPr>
          <a:xfrm>
            <a:off x="609600" y="3976688"/>
            <a:ext cx="47625" cy="74771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762000" y="4052888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D1D1F"/>
                </a:solidFill>
                <a:latin typeface="+mn-lt"/>
              </a:rPr>
              <a:t>PRINCIPLE BEHIND THEM ALL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You either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increase the volume examined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(thick film, filtration),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physically concentrate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the parasite (buffy coat, Knott's), or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amplify the signal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(fluorescence, PCR). Concentration methods improve sensitivity but most sacrifice the morphology needed for species ID — hence a thin film alongside.</a:t>
            </a:r>
          </a:p>
        </p:txBody>
      </p:sp>
      <p:sp>
        <p:nvSpPr>
          <p:cNvPr id="10" name="r1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Non-morphological methods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Antigen, antibody &amp; molecular tests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04850" y="129540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Antigen detection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Malaria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RDTs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(HRP-2, pLDH, aldolase); circulating filarial antigen (CFA) for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W. bancrofti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. Fast, field-usable.</a:t>
            </a:r>
          </a:p>
        </p:txBody>
      </p:sp>
      <p:sp>
        <p:nvSpPr>
          <p:cNvPr id="7" name="r7"/>
          <p:cNvSpPr/>
          <p:nvPr/>
        </p:nvSpPr>
        <p:spPr>
          <a:xfrm>
            <a:off x="4311650" y="121920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406900" y="129540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Antibody (serology)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b="1">
                <a:solidFill>
                  <a:srgbClr val="1D1D1F"/>
                </a:solidFill>
                <a:latin typeface="+mn-lt"/>
              </a:rPr>
              <a:t>rK39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for visceral leishmaniasis; serology for Chagas &amp; toxoplasmosis. Good for chronic/low-parasite states; cannot distinguish past vs active for some.</a:t>
            </a:r>
          </a:p>
        </p:txBody>
      </p:sp>
      <p:sp>
        <p:nvSpPr>
          <p:cNvPr id="9" name="r9"/>
          <p:cNvSpPr/>
          <p:nvPr/>
        </p:nvSpPr>
        <p:spPr>
          <a:xfrm>
            <a:off x="8013700" y="1219200"/>
            <a:ext cx="3568700" cy="888206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8108950" y="1295400"/>
            <a:ext cx="3378200" cy="735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Molecular (PCR)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Highest sensitivity/specificity; species confirmation (essential for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P. knowlesi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mixed malaria), and low-level chronic Chagas.</a:t>
            </a:r>
          </a:p>
        </p:txBody>
      </p:sp>
      <p:graphicFrame>
        <p:nvGraphicFramePr>
          <p:cNvPr id="11" name="tbl11"/>
          <p:cNvGraphicFramePr/>
          <p:nvPr/>
        </p:nvGraphicFramePr>
        <p:xfrm>
          <a:off x="609600" y="2355056"/>
          <a:ext cx="10972800" cy="1647825"/>
        </p:xfrm>
        <a:graphic>
          <a:graphicData uri="http://schemas.openxmlformats.org/drawingml/2006/table">
            <a:tbl>
              <a:tblPr firstRow="1" bandRow="0"/>
              <a:tblGrid>
                <a:gridCol w="6583680"/>
                <a:gridCol w="4389120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Situation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Preferred confirmatory test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Acute malaria triage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RDT + microscopy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Malaria species uncertainty / knowlesi / mixed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PCR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Visceral leishmaniasis (immunocompetent)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rK39 serology + marrow/splenic aspirate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Chronic Chagas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Serology (≥2 methods) ± PCR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Lymphatic filariasis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Night film + circulating filarial antigen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Communicating the result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Reporting parasites — what to include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A parasitology report is a clinical instruction, not just an observation. For malaria in particular it must be complete and rapid.</a:t>
            </a:r>
          </a:p>
        </p:txBody>
      </p:sp>
      <p:sp>
        <p:nvSpPr>
          <p:cNvPr id="6" name="r6"/>
          <p:cNvSpPr/>
          <p:nvPr/>
        </p:nvSpPr>
        <p:spPr>
          <a:xfrm>
            <a:off x="609600" y="16097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704850" y="16859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Malaria report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State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(1) parasite seen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(2) species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(or "species to be confirmed"),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(3) stages present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(esp. gametocytes), and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(4) % parasitaemia / density.</a:t>
            </a:r>
          </a:p>
        </p:txBody>
      </p:sp>
      <p:sp>
        <p:nvSpPr>
          <p:cNvPr id="8" name="r8"/>
          <p:cNvSpPr/>
          <p:nvPr/>
        </p:nvSpPr>
        <p:spPr>
          <a:xfrm>
            <a:off x="6162675" y="16097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257925" y="16859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Critical communication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 i="1">
                <a:solidFill>
                  <a:srgbClr val="1D1D1F"/>
                </a:solidFill>
                <a:latin typeface="+mn-lt"/>
              </a:rPr>
              <a:t>P. falciparum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, high parasitaemia, or any severe-malaria clue →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telephone the clinician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 document the call. Treat as a critical/panic result.</a:t>
            </a:r>
          </a:p>
        </p:txBody>
      </p:sp>
      <p:sp>
        <p:nvSpPr>
          <p:cNvPr id="10" name="r10"/>
          <p:cNvSpPr/>
          <p:nvPr/>
        </p:nvSpPr>
        <p:spPr>
          <a:xfrm>
            <a:off x="609600" y="24479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04850" y="25241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Microfilaria report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Species +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sheath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tail-nuclei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features that support it; note periodicity/time of sample; density if relevant (esp. </a:t>
            </a:r>
            <a:r>
              <a:rPr lang="en-US" sz="1150" i="1">
                <a:solidFill>
                  <a:srgbClr val="1D1D1F"/>
                </a:solidFill>
                <a:latin typeface="+mn-lt"/>
              </a:rPr>
              <a:t>Loa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).</a:t>
            </a:r>
          </a:p>
        </p:txBody>
      </p:sp>
      <p:sp>
        <p:nvSpPr>
          <p:cNvPr id="12" name="r12"/>
          <p:cNvSpPr/>
          <p:nvPr/>
        </p:nvSpPr>
        <p:spPr>
          <a:xfrm>
            <a:off x="6162675" y="2447925"/>
            <a:ext cx="5419725" cy="723900"/>
          </a:xfrm>
          <a:prstGeom prst="roundRect">
            <a:avLst>
              <a:gd name="adj" fmla="val 7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6257925" y="2524125"/>
            <a:ext cx="5229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Negative but suspected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50">
                <a:solidFill>
                  <a:srgbClr val="1D1D1F"/>
                </a:solidFill>
                <a:latin typeface="+mn-lt"/>
              </a:rPr>
              <a:t>State that a single negative film does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not exclude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malaria and recommend </a:t>
            </a:r>
            <a:r>
              <a:rPr lang="en-US" sz="1150" b="1">
                <a:solidFill>
                  <a:srgbClr val="1D1D1F"/>
                </a:solidFill>
                <a:latin typeface="+mn-lt"/>
              </a:rPr>
              <a:t>repeat films ×3 over 48 h</a:t>
            </a:r>
            <a:r>
              <a:rPr lang="en-US" sz="1150">
                <a:solidFill>
                  <a:srgbClr val="1D1D1F"/>
                </a:solidFill>
                <a:latin typeface="+mn-lt"/>
              </a:rPr>
              <a:t> and/or antigen/PCR.</a:t>
            </a:r>
          </a:p>
        </p:txBody>
      </p:sp>
      <p:sp>
        <p:nvSpPr>
          <p:cNvPr id="14" name="r14"/>
          <p:cNvSpPr/>
          <p:nvPr/>
        </p:nvSpPr>
        <p:spPr>
          <a:xfrm>
            <a:off x="609600" y="3419475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15"/>
          <p:cNvSpPr/>
          <p:nvPr/>
        </p:nvSpPr>
        <p:spPr>
          <a:xfrm>
            <a:off x="609600" y="3419475"/>
            <a:ext cx="47625" cy="74771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762000" y="3495675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F5F57"/>
                </a:solidFill>
                <a:latin typeface="+mn-lt"/>
              </a:rPr>
              <a:t>NEVER DO THIS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Never issue a bare "malaria parasites seen" without species (or a "to be confirmed") and a parasitaemia figure for </a:t>
            </a:r>
            <a:r>
              <a:rPr lang="en-US" sz="1200" i="1">
                <a:solidFill>
                  <a:srgbClr val="1D1D1F"/>
                </a:solidFill>
                <a:latin typeface="+mn-lt"/>
              </a:rPr>
              <a:t>falciparum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. The number changes whether the patient goes home or to intensive care.</a:t>
            </a:r>
          </a:p>
        </p:txBody>
      </p:sp>
      <p:sp>
        <p:nvSpPr>
          <p:cNvPr id="17" name="r1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Quality &amp; error prevention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Quality control, mimics &amp; common errors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609600" y="1219200"/>
            <a:ext cx="5400675" cy="1878806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723900" y="1314450"/>
            <a:ext cx="5172075" cy="168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+mn-lt"/>
              </a:rPr>
              <a:t>Sources of error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Wrong stain pH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dots absent → species missed.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Old EDTA blood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distorted parasites, platelet clumps, gametocyte exflagellation.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Thick film too thick / heat-fixed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washes off.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Under-examination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→ declaring negative after too few fields (examine ≥100–200 thick-film fields).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Inexperience with imported species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in non-endemic labs.</a:t>
            </a:r>
          </a:p>
        </p:txBody>
      </p:sp>
      <p:sp>
        <p:nvSpPr>
          <p:cNvPr id="7" name="r7"/>
          <p:cNvSpPr/>
          <p:nvPr/>
        </p:nvSpPr>
        <p:spPr>
          <a:xfrm>
            <a:off x="6181725" y="1219200"/>
            <a:ext cx="5400675" cy="1878806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6296025" y="1314450"/>
            <a:ext cx="5172075" cy="168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A9E34"/>
                </a:solidFill>
                <a:latin typeface="+mn-lt"/>
              </a:rPr>
              <a:t>Good-practice safeguards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Buffer water to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pH 7.2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; run stain QC with known positives.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Make films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promptly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from fresh blood.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Always pair </a:t>
            </a:r>
            <a:r>
              <a:rPr lang="en-US" sz="1250" b="1">
                <a:solidFill>
                  <a:srgbClr val="1D1D1F"/>
                </a:solidFill>
                <a:latin typeface="+mn-lt"/>
              </a:rPr>
              <a:t>thick + thin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; keep an atlas at the bench.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 b="1">
                <a:solidFill>
                  <a:srgbClr val="1D1D1F"/>
                </a:solidFill>
                <a:latin typeface="+mn-lt"/>
              </a:rPr>
              <a:t>Repeat films ×3</a:t>
            </a:r>
            <a:r>
              <a:rPr lang="en-US" sz="1250">
                <a:solidFill>
                  <a:srgbClr val="1D1D1F"/>
                </a:solidFill>
                <a:latin typeface="+mn-lt"/>
              </a:rPr>
              <a:t> before excluding malaria.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250">
                <a:solidFill>
                  <a:srgbClr val="1D1D1F"/>
                </a:solidFill>
                <a:latin typeface="+mn-lt"/>
              </a:rPr>
              <a:t>Second-reader / reference-lab confirmation for species and for knowlesi.</a:t>
            </a:r>
          </a:p>
        </p:txBody>
      </p:sp>
      <p:sp>
        <p:nvSpPr>
          <p:cNvPr id="9" name="r9"/>
          <p:cNvSpPr/>
          <p:nvPr/>
        </p:nvSpPr>
        <p:spPr>
          <a:xfrm>
            <a:off x="609600" y="3231356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FEF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10"/>
          <p:cNvSpPr/>
          <p:nvPr/>
        </p:nvSpPr>
        <p:spPr>
          <a:xfrm>
            <a:off x="609600" y="3231356"/>
            <a:ext cx="47625" cy="747712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62000" y="3307556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  <a:latin typeface="+mn-lt"/>
              </a:rPr>
              <a:t>THE TWO-WAY ERROR TO FEAR MOST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A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false negative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in falciparum can be fatal; a </a:t>
            </a:r>
            <a:r>
              <a:rPr lang="en-US" sz="1200" b="1">
                <a:solidFill>
                  <a:srgbClr val="1D1D1F"/>
                </a:solidFill>
                <a:latin typeface="+mn-lt"/>
              </a:rPr>
              <a:t>false positive</a:t>
            </a:r>
            <a:r>
              <a:rPr lang="en-US" sz="1200">
                <a:solidFill>
                  <a:srgbClr val="1D1D1F"/>
                </a:solidFill>
                <a:latin typeface="+mn-lt"/>
              </a:rPr>
              <a:t> from a platelet-on-RBC leads to unnecessary toxic therapy. Discipline in technique and the "blue cytoplasm + red chromatin, in-plane" rule prevents both.</a:t>
            </a:r>
          </a:p>
        </p:txBody>
      </p:sp>
      <p:sp>
        <p:nvSpPr>
          <p:cNvPr id="12" name="r1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One-glance revision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Master summary — organism at a glance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tbl5"/>
          <p:cNvGraphicFramePr/>
          <p:nvPr/>
        </p:nvGraphicFramePr>
        <p:xfrm>
          <a:off x="609600" y="1219200"/>
          <a:ext cx="10972800" cy="2705100"/>
        </p:xfrm>
        <a:graphic>
          <a:graphicData uri="http://schemas.openxmlformats.org/drawingml/2006/table">
            <a:tbl>
              <a:tblPr firstRow="1" bandRow="0"/>
              <a:tblGrid>
                <a:gridCol w="3657600"/>
                <a:gridCol w="2438400"/>
                <a:gridCol w="2438400"/>
                <a:gridCol w="2438400"/>
              </a:tblGrid>
              <a:tr h="29051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Organism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Where on specimen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Key feature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D6E9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Best test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E8E8EA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Plasmodium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Inside RBC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Rings/pigment; species by RBC size, dots, stages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Thick+thin film; RDT; PCR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Babesia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Inside RBC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Maltese-cross tetrad; </a:t>
                      </a: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no pigment</a:t>
                      </a: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; extracellular forms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Thin film; PCR; serology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Microfilariae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Free in plasma (large)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Sheath ± ; tail-nuclei pattern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Night/day film; Knott's; filtration; CFA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Trypanosoma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Extracellular (plasma)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Kinetoplast + undulating membrane + flagellum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Film; buffy coat; serology/PCR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Leishmania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Inside macrophage (marrow/spleen)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LD body — nucleus + kinetoplast ("two dots")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Marrow/splenic aspirate; rK39; PCR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1D1D1F"/>
                          </a:solidFill>
                          <a:latin typeface="+mn-lt"/>
                        </a:rPr>
                        <a:t>Hookworm / </a:t>
                      </a:r>
                      <a:r>
                        <a:rPr lang="en-US" sz="1100" b="1" i="1">
                          <a:solidFill>
                            <a:srgbClr val="1D1D1F"/>
                          </a:solidFill>
                          <a:latin typeface="+mn-lt"/>
                        </a:rPr>
                        <a:t>D. latum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Not on film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Anaemia: iron-deficiency / B12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p:txBody>
                    <a:bodyPr wrap="square" lIns="0" tIns="0" rIns="0" bIns="0" anchor="t">
                      <a:noAutofit/>
                    </a:bodyPr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1D1D1F"/>
                          </a:solidFill>
                          <a:latin typeface="+mn-lt"/>
                        </a:rPr>
                        <a:t>Stool for ova</a:t>
                      </a:r>
                    </a:p>
                  </p:txBody>
                  <a:tcPr marL="45720" marR="45720" marT="27432" marB="27432" anchor="t">
                    <a:lnL w="6350">
                      <a:solidFill>
                        <a:srgbClr val="D2D2D7"/>
                      </a:solidFill>
                    </a:lnL>
                    <a:lnR w="6350">
                      <a:solidFill>
                        <a:srgbClr val="D2D2D7"/>
                      </a:solidFill>
                    </a:lnR>
                    <a:lnT w="6350">
                      <a:solidFill>
                        <a:srgbClr val="D2D2D7"/>
                      </a:solidFill>
                    </a:lnT>
                    <a:lnB w="6350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6"/>
          <p:cNvSpPr/>
          <p:nvPr/>
        </p:nvSpPr>
        <p:spPr>
          <a:xfrm>
            <a:off x="609600" y="4057650"/>
            <a:ext cx="10972800" cy="747712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7"/>
          <p:cNvSpPr/>
          <p:nvPr/>
        </p:nvSpPr>
        <p:spPr>
          <a:xfrm>
            <a:off x="609600" y="4057650"/>
            <a:ext cx="47625" cy="7477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762000" y="4133850"/>
            <a:ext cx="10706100" cy="614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0A84FF"/>
                </a:solidFill>
                <a:latin typeface="+mn-lt"/>
              </a:rPr>
              <a:t>IF YOU REMEMBER ONE LINE PER ORGANISM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>
                <a:solidFill>
                  <a:srgbClr val="1D1D1F"/>
                </a:solidFill>
                <a:latin typeface="+mn-lt"/>
              </a:rPr>
              <a:t>Malaria = pigment + rings; Babesia = Maltese cross, no pigment; Microfilaria = big + sheath/tail key; Trypanosome = kinetoplast + undulating membrane; Leishmania = two-dot amastigote in a macrophage.</a:t>
            </a:r>
          </a:p>
        </p:txBody>
      </p:sp>
      <p:sp>
        <p:nvSpPr>
          <p:cNvPr id="9" name="r9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Putting it together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Diagnostic algorithm — the whole session on one slide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5"/>
          <p:cNvSpPr/>
          <p:nvPr/>
        </p:nvSpPr>
        <p:spPr>
          <a:xfrm>
            <a:off x="3429000" y="1219200"/>
            <a:ext cx="5334000" cy="357188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3505200" y="1276350"/>
            <a:ext cx="5181600" cy="2619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Febrile / anaemic patient + relevant travel/exposure</a:t>
            </a:r>
          </a:p>
        </p:txBody>
      </p:sp>
      <p:sp>
        <p:nvSpPr>
          <p:cNvPr id="7" name="t7"/>
          <p:cNvSpPr txBox="1"/>
          <p:nvPr/>
        </p:nvSpPr>
        <p:spPr>
          <a:xfrm>
            <a:off x="609600" y="1576388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8" name="r8"/>
          <p:cNvSpPr/>
          <p:nvPr/>
        </p:nvSpPr>
        <p:spPr>
          <a:xfrm>
            <a:off x="3429000" y="1785938"/>
            <a:ext cx="5334000" cy="357188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3505200" y="1843088"/>
            <a:ext cx="5181600" cy="2619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Thick + thin films (Giemsa pH 7.2) · consider RDT · buffy coat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09600" y="2143125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1" name="r11"/>
          <p:cNvSpPr/>
          <p:nvPr/>
        </p:nvSpPr>
        <p:spPr>
          <a:xfrm>
            <a:off x="3429000" y="2352675"/>
            <a:ext cx="5334000" cy="507206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3505200" y="2409825"/>
            <a:ext cx="5181600" cy="4119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Intra-RBC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pigment+rings → malaria (speciate, quantify) · tetrad/no pigment → Babesia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09600" y="2859881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4" name="r14"/>
          <p:cNvSpPr/>
          <p:nvPr/>
        </p:nvSpPr>
        <p:spPr>
          <a:xfrm>
            <a:off x="3429000" y="3069431"/>
            <a:ext cx="5334000" cy="507206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3505200" y="3126581"/>
            <a:ext cx="5181600" cy="4119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Extracellular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large worm → microfilaria (sheath/tail) · flagellate → trypanosome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09600" y="3576638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17" name="r17"/>
          <p:cNvSpPr/>
          <p:nvPr/>
        </p:nvSpPr>
        <p:spPr>
          <a:xfrm>
            <a:off x="3429000" y="3786188"/>
            <a:ext cx="5334000" cy="507206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3505200" y="3843338"/>
            <a:ext cx="5181600" cy="4119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In macrophage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050">
                <a:solidFill>
                  <a:srgbClr val="6E6E73"/>
                </a:solidFill>
                <a:latin typeface="+mn-lt"/>
              </a:rPr>
              <a:t>marrow/spleen → Leishmania LD bodies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09600" y="4293394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20" name="r20"/>
          <p:cNvSpPr/>
          <p:nvPr/>
        </p:nvSpPr>
        <p:spPr>
          <a:xfrm>
            <a:off x="3429000" y="4502944"/>
            <a:ext cx="5334000" cy="357188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505200" y="4560094"/>
            <a:ext cx="5181600" cy="2619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Film negative but suspicion high? → repeat ×3 / 48h · PCR · serology · stool for ova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09600" y="4860131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>
                <a:solidFill>
                  <a:srgbClr val="0A84FF"/>
                </a:solidFill>
                <a:latin typeface="+mn-lt"/>
              </a:rPr>
              <a:t>↓</a:t>
            </a:r>
          </a:p>
        </p:txBody>
      </p:sp>
      <p:sp>
        <p:nvSpPr>
          <p:cNvPr id="23" name="r23"/>
          <p:cNvSpPr/>
          <p:nvPr/>
        </p:nvSpPr>
        <p:spPr>
          <a:xfrm>
            <a:off x="3429000" y="5069681"/>
            <a:ext cx="5334000" cy="357188"/>
          </a:xfrm>
          <a:prstGeom prst="roundRect">
            <a:avLst>
              <a:gd name="adj" fmla="val 9000"/>
            </a:avLst>
          </a:prstGeom>
          <a:solidFill>
            <a:srgbClr val="F3F8FF"/>
          </a:solidFill>
          <a:ln w="14288">
            <a:solidFill>
              <a:srgbClr val="0A8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24"/>
          <p:cNvSpPr txBox="1"/>
          <p:nvPr/>
        </p:nvSpPr>
        <p:spPr>
          <a:xfrm>
            <a:off x="3505200" y="5126831"/>
            <a:ext cx="5181600" cy="2619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>
                <a:solidFill>
                  <a:srgbClr val="1D1D1F"/>
                </a:solidFill>
                <a:latin typeface="+mn-lt"/>
              </a:rPr>
              <a:t>Report with species, stage &amp; parasitaemia · phone critical malaria results</a:t>
            </a:r>
          </a:p>
        </p:txBody>
      </p:sp>
      <p:sp>
        <p:nvSpPr>
          <p:cNvPr id="25" name="r2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26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09600" y="400050"/>
            <a:ext cx="109728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A84FF"/>
                </a:solidFill>
                <a:latin typeface="+mn-lt"/>
              </a:rPr>
              <a:t>Standard sources for pathology residents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09600" y="590550"/>
            <a:ext cx="10972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>
                <a:solidFill>
                  <a:srgbClr val="1D1D1F"/>
                </a:solidFill>
                <a:latin typeface="+mn-lt"/>
              </a:rPr>
              <a:t>Key references</a:t>
            </a:r>
          </a:p>
        </p:txBody>
      </p:sp>
      <p:sp>
        <p:nvSpPr>
          <p:cNvPr id="4" name="r4"/>
          <p:cNvSpPr/>
          <p:nvPr/>
        </p:nvSpPr>
        <p:spPr>
          <a:xfrm>
            <a:off x="609600" y="1104900"/>
            <a:ext cx="552450" cy="381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1D1D1F"/>
                </a:solidFill>
                <a:latin typeface="+mn-lt"/>
              </a:rPr>
              <a:t>Content in this deck is a teaching synthesis of the following standard textbooks and reference resources. Consult them (and their photomicrograph atlases) for authoritative detail and images: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1809750"/>
            <a:ext cx="10972800" cy="1885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Bain BJ.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Blood Cells: A Practical Guide.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Wiley-Blackwell — the reference for blood-film morphology, including malaria &amp; microfilariae.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Bain BJ, Bates I, Laffan MA.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Dacie and Lewis Practical Haematology.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Elsevier — film preparation, staining &amp; parasite detection methods.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Greer JP et al. (eds).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Wintrobe's Clinical Hematology.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Wolters Kluwer — haematological effects of parasitic disease.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Hoffman R et al.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Hematology: Basic Principles and Practice.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Elsevier.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Kumar V, Abbas AK, Aster JC.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Robbins &amp; Cotran Pathologic Basis of Disease.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Elsevier — pathology of malaria, leishmaniasis, filariasis.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Garcia LS.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Diagnostic Medical Parasitology.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ASM Press — morphology &amp; identification keys.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World Health Organization.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Basic Malaria Microscopy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(Parts I &amp; II) &amp; </a:t>
            </a:r>
            <a:r>
              <a:rPr lang="en-US" sz="1350" i="1">
                <a:solidFill>
                  <a:srgbClr val="1D1D1F"/>
                </a:solidFill>
                <a:latin typeface="+mn-lt"/>
              </a:rPr>
              <a:t>Guidelines for Malaria.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+mn-lt"/>
              <a:buAutoNum type="arabicPeriod"/>
            </a:pPr>
            <a:r>
              <a:rPr lang="en-US" sz="1350" b="1">
                <a:solidFill>
                  <a:srgbClr val="1D1D1F"/>
                </a:solidFill>
                <a:latin typeface="+mn-lt"/>
              </a:rPr>
              <a:t>CDC DPDx</a:t>
            </a:r>
            <a:r>
              <a:rPr lang="en-US" sz="1350">
                <a:solidFill>
                  <a:srgbClr val="1D1D1F"/>
                </a:solidFill>
                <a:latin typeface="+mn-lt"/>
              </a:rPr>
              <a:t> — Laboratory Identification of Parasites of Public Health Concern (open-access image atlas &amp; keys).</a:t>
            </a:r>
          </a:p>
        </p:txBody>
      </p:sp>
      <p:sp>
        <p:nvSpPr>
          <p:cNvPr id="7" name="t7"/>
          <p:cNvSpPr txBox="1"/>
          <p:nvPr/>
        </p:nvSpPr>
        <p:spPr>
          <a:xfrm>
            <a:off x="609600" y="3829050"/>
            <a:ext cx="10972800" cy="357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6E6E73"/>
                </a:solidFill>
                <a:latin typeface="+mn-lt"/>
              </a:rPr>
              <a:t>All descriptive content on the preceding slides was paraphrased and reorganised for teaching. Content was rephrased for compliance with licensing restrictions; consult the primary sources for verbatim text and original photomicrographs.</a:t>
            </a:r>
          </a:p>
        </p:txBody>
      </p:sp>
      <p:sp>
        <p:nvSpPr>
          <p:cNvPr id="8" name="r8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381000" y="65913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1D1D1F"/>
                </a:solidFill>
                <a:latin typeface="+mn-lt"/>
              </a:rPr>
              <a:t>Parasites in Haematology — Pathology Teaching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858000" y="6591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>
                <a:solidFill>
                  <a:srgbClr val="6E6E73"/>
                </a:solidFill>
                <a:latin typeface="+mn-lt"/>
              </a:rPr>
              <a:t>Haematology · Blood &amp; Marrow Parasites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84FF"/>
              </a:gs>
              <a:gs pos="100000">
                <a:srgbClr val="5E5CE6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3"/>
          <p:cNvSpPr/>
          <p:nvPr/>
        </p:nvSpPr>
        <p:spPr>
          <a:xfrm>
            <a:off x="609600" y="2000250"/>
            <a:ext cx="1371600" cy="323850"/>
          </a:xfrm>
          <a:prstGeom prst="roundRect">
            <a:avLst>
              <a:gd name="adj" fmla="val 20000"/>
            </a:avLst>
          </a:prstGeom>
          <a:noFill/>
          <a:ln w="1143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609600" y="2000250"/>
            <a:ext cx="137160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+mn-lt"/>
              </a:rPr>
              <a:t>End of Theory</a:t>
            </a:r>
          </a:p>
        </p:txBody>
      </p:sp>
      <p:sp>
        <p:nvSpPr>
          <p:cNvPr id="5" name="t5"/>
          <p:cNvSpPr txBox="1"/>
          <p:nvPr/>
        </p:nvSpPr>
        <p:spPr>
          <a:xfrm>
            <a:off x="609600" y="2495550"/>
            <a:ext cx="10972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+mn-lt"/>
              </a:rPr>
              <a:t>Now, to the microscope.</a:t>
            </a:r>
          </a:p>
        </p:txBody>
      </p:sp>
      <p:sp>
        <p:nvSpPr>
          <p:cNvPr id="6" name="t6"/>
          <p:cNvSpPr txBox="1"/>
          <p:nvPr/>
        </p:nvSpPr>
        <p:spPr>
          <a:xfrm>
            <a:off x="609600" y="3638550"/>
            <a:ext cx="10972800" cy="8715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>
                <a:solidFill>
                  <a:srgbClr val="EAF1FF"/>
                </a:solidFill>
                <a:latin typeface="+mn-lt"/>
              </a:rPr>
              <a:t>The blood film rewards a disciplined eye: know where each organism lives, ask the five questions for malaria, and let the sheath-and-tail key name the microfilaria. When in doubt — repeat the film, and pick up the phone for falciparum.</a:t>
            </a:r>
          </a:p>
        </p:txBody>
      </p:sp>
      <p:sp>
        <p:nvSpPr>
          <p:cNvPr id="7" name="t7"/>
          <p:cNvSpPr txBox="1"/>
          <p:nvPr/>
        </p:nvSpPr>
        <p:spPr>
          <a:xfrm>
            <a:off x="609600" y="4681538"/>
            <a:ext cx="1097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>
                <a:solidFill>
                  <a:srgbClr val="DCE6FF"/>
                </a:solidFill>
                <a:latin typeface="+mn-lt"/>
              </a:rPr>
              <a:t>Parasites in Haematology • Pathology Residency Teaching • Questions &amp; case films to follow.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iro">
  <a:themeElements>
    <a:clrScheme name="Kiro">
      <a:dk1>
        <a:srgbClr val="1D1D1F"/>
      </a:dk1>
      <a:lt1>
        <a:srgbClr val="FFFFFF"/>
      </a:lt1>
      <a:dk2>
        <a:srgbClr val="6E6E73"/>
      </a:dk2>
      <a:lt2>
        <a:srgbClr val="ECECEE"/>
      </a:lt2>
      <a:accent1>
        <a:srgbClr val="0A84FF"/>
      </a:accent1>
      <a:accent2>
        <a:srgbClr val="5E5CE6"/>
      </a:accent2>
      <a:accent3>
        <a:srgbClr val="28C840"/>
      </a:accent3>
      <a:accent4>
        <a:srgbClr val="FEBC2E"/>
      </a:accent4>
      <a:accent5>
        <a:srgbClr val="FF5F57"/>
      </a:accent5>
      <a:accent6>
        <a:srgbClr val="5AC8FA"/>
      </a:accent6>
      <a:hlink>
        <a:srgbClr val="0A84FF"/>
      </a:hlink>
      <a:folHlink>
        <a:srgbClr val="5E5CE6"/>
      </a:folHlink>
    </a:clrScheme>
    <a:fontScheme name="Ki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i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